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892152208b4f64" /><Relationship Type="http://schemas.openxmlformats.org/officeDocument/2006/relationships/extended-properties" Target="/docProps/app.xml" Id="Rfc89ff6ba14d4a45" /><Relationship Type="http://schemas.openxmlformats.org/officeDocument/2006/relationships/officeDocument" Target="/ppt/presentation.xml" Id="Rbe46d1f054a8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84e8cc96fd46d4"/>
  </p:sldMasterIdLst>
  <p:notesMasterIdLst>
    <p:notesMasterId xmlns:r="http://schemas.openxmlformats.org/officeDocument/2006/relationships" r:id="Rc68ca5f09ac54c9f"/>
  </p:notesMasterIdLst>
  <p:sldIdLst>
    <p:sldId xmlns:r="http://schemas.openxmlformats.org/officeDocument/2006/relationships" id="256" r:id="R35c04482ddac474b"/>
    <p:sldId xmlns:r="http://schemas.openxmlformats.org/officeDocument/2006/relationships" id="257" r:id="R35f8119c42a0473b"/>
    <p:sldId xmlns:r="http://schemas.openxmlformats.org/officeDocument/2006/relationships" id="258" r:id="Rca7af7107e9f49d0"/>
    <p:sldId xmlns:r="http://schemas.openxmlformats.org/officeDocument/2006/relationships" id="259" r:id="R6c66fc881ee2404c"/>
    <p:sldId xmlns:r="http://schemas.openxmlformats.org/officeDocument/2006/relationships" id="260" r:id="R07e4b3b897e140f8"/>
    <p:sldId xmlns:r="http://schemas.openxmlformats.org/officeDocument/2006/relationships" id="261" r:id="Rf455935a61b94054"/>
    <p:sldId xmlns:r="http://schemas.openxmlformats.org/officeDocument/2006/relationships" id="262" r:id="Rb0d4424cf11049ee"/>
    <p:sldId xmlns:r="http://schemas.openxmlformats.org/officeDocument/2006/relationships" id="263" r:id="R101d433d316640ad"/>
    <p:sldId xmlns:r="http://schemas.openxmlformats.org/officeDocument/2006/relationships" id="264" r:id="R5f08498602a9404a"/>
    <p:sldId xmlns:r="http://schemas.openxmlformats.org/officeDocument/2006/relationships" id="265" r:id="R1c7f76366e974073"/>
    <p:sldId xmlns:r="http://schemas.openxmlformats.org/officeDocument/2006/relationships" id="266" r:id="R6fcccba5a5414f2d"/>
    <p:sldId xmlns:r="http://schemas.openxmlformats.org/officeDocument/2006/relationships" id="267" r:id="Rbd0f143f50d641f9"/>
    <p:sldId xmlns:r="http://schemas.openxmlformats.org/officeDocument/2006/relationships" id="268" r:id="Rb555f3f2948e4d4f"/>
    <p:sldId xmlns:r="http://schemas.openxmlformats.org/officeDocument/2006/relationships" id="269" r:id="Re1fe7b0019d740a3"/>
    <p:sldId xmlns:r="http://schemas.openxmlformats.org/officeDocument/2006/relationships" id="270" r:id="R8d6408bad50349fb"/>
    <p:sldId xmlns:r="http://schemas.openxmlformats.org/officeDocument/2006/relationships" id="271" r:id="R6a806e70d0d440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02699478c34095" /><Relationship Type="http://schemas.openxmlformats.org/officeDocument/2006/relationships/slideMaster" Target="/ppt/slideMasters/slideMaster1.xml" Id="R2584e8cc96fd46d4" /><Relationship Type="http://schemas.openxmlformats.org/officeDocument/2006/relationships/notesMaster" Target="/ppt/notesMasters/notesMaster1.xml" Id="Rc68ca5f09ac54c9f" /><Relationship Type="http://schemas.openxmlformats.org/officeDocument/2006/relationships/presProps" Target="/ppt/presProps.xml" Id="R2e11268cec57417e" /><Relationship Type="http://schemas.openxmlformats.org/officeDocument/2006/relationships/tableStyles" Target="/ppt/tableStyles.xml" Id="Ra35fb7ac453b497f" /><Relationship Type="http://schemas.openxmlformats.org/officeDocument/2006/relationships/slide" Target="/ppt/slides/slide1.xml" Id="R35c04482ddac474b" /><Relationship Type="http://schemas.openxmlformats.org/officeDocument/2006/relationships/slide" Target="/ppt/slides/slide2.xml" Id="R35f8119c42a0473b" /><Relationship Type="http://schemas.openxmlformats.org/officeDocument/2006/relationships/slide" Target="/ppt/slides/slide3.xml" Id="Rca7af7107e9f49d0" /><Relationship Type="http://schemas.openxmlformats.org/officeDocument/2006/relationships/slide" Target="/ppt/slides/slide4.xml" Id="R6c66fc881ee2404c" /><Relationship Type="http://schemas.openxmlformats.org/officeDocument/2006/relationships/slide" Target="/ppt/slides/slide5.xml" Id="R07e4b3b897e140f8" /><Relationship Type="http://schemas.openxmlformats.org/officeDocument/2006/relationships/slide" Target="/ppt/slides/slide6.xml" Id="Rf455935a61b94054" /><Relationship Type="http://schemas.openxmlformats.org/officeDocument/2006/relationships/slide" Target="/ppt/slides/slide7.xml" Id="Rb0d4424cf11049ee" /><Relationship Type="http://schemas.openxmlformats.org/officeDocument/2006/relationships/slide" Target="/ppt/slides/slide8.xml" Id="R101d433d316640ad" /><Relationship Type="http://schemas.openxmlformats.org/officeDocument/2006/relationships/slide" Target="/ppt/slides/slide9.xml" Id="R5f08498602a9404a" /><Relationship Type="http://schemas.openxmlformats.org/officeDocument/2006/relationships/slide" Target="/ppt/slides/slide10.xml" Id="R1c7f76366e974073" /><Relationship Type="http://schemas.openxmlformats.org/officeDocument/2006/relationships/slide" Target="/ppt/slides/slide11.xml" Id="R6fcccba5a5414f2d" /><Relationship Type="http://schemas.openxmlformats.org/officeDocument/2006/relationships/slide" Target="/ppt/slides/slide12.xml" Id="Rbd0f143f50d641f9" /><Relationship Type="http://schemas.openxmlformats.org/officeDocument/2006/relationships/slide" Target="/ppt/slides/slide13.xml" Id="Rb555f3f2948e4d4f" /><Relationship Type="http://schemas.openxmlformats.org/officeDocument/2006/relationships/slide" Target="/ppt/slides/slide14.xml" Id="Re1fe7b0019d740a3" /><Relationship Type="http://schemas.openxmlformats.org/officeDocument/2006/relationships/slide" Target="/ppt/slides/slide15.xml" Id="R8d6408bad50349fb" /><Relationship Type="http://schemas.openxmlformats.org/officeDocument/2006/relationships/slide" Target="/ppt/slides/slide16.xml" Id="R6a806e70d0d4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a6145334b74e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9d440fc2094659" /><Relationship Type="http://schemas.openxmlformats.org/officeDocument/2006/relationships/notesMaster" Target="/ppt/notesMasters/notesMaster1.xml" Id="Rf883f73c7c4c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2a05944cc74058" /><Relationship Type="http://schemas.openxmlformats.org/officeDocument/2006/relationships/notesMaster" Target="/ppt/notesMasters/notesMaster1.xml" Id="Rf4eaa34d968f42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7fccec37f5454f" /><Relationship Type="http://schemas.openxmlformats.org/officeDocument/2006/relationships/notesMaster" Target="/ppt/notesMasters/notesMaster1.xml" Id="R8957f9ae2165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1a3f7f54f04aea" /><Relationship Type="http://schemas.openxmlformats.org/officeDocument/2006/relationships/notesMaster" Target="/ppt/notesMasters/notesMaster1.xml" Id="R639c070edf38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e45d1c7f14776" /><Relationship Type="http://schemas.openxmlformats.org/officeDocument/2006/relationships/notesMaster" Target="/ppt/notesMasters/notesMaster1.xml" Id="R6b19c85b506346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399e1af69d477c" /><Relationship Type="http://schemas.openxmlformats.org/officeDocument/2006/relationships/notesMaster" Target="/ppt/notesMasters/notesMaster1.xml" Id="R660aaf16efc146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27b8a153894459" /><Relationship Type="http://schemas.openxmlformats.org/officeDocument/2006/relationships/notesMaster" Target="/ppt/notesMasters/notesMaster1.xml" Id="R0fa0da9e775e4d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0a182acad647b7" /><Relationship Type="http://schemas.openxmlformats.org/officeDocument/2006/relationships/notesMaster" Target="/ppt/notesMasters/notesMaster1.xml" Id="Rc08303fe957941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78c770aaae40c2" /><Relationship Type="http://schemas.openxmlformats.org/officeDocument/2006/relationships/notesMaster" Target="/ppt/notesMasters/notesMaster1.xml" Id="Ra3aa153af50345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747eb5d3dd4197" /><Relationship Type="http://schemas.openxmlformats.org/officeDocument/2006/relationships/notesMaster" Target="/ppt/notesMasters/notesMaster1.xml" Id="R56fbc36eaa4e4e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0601d71bbb4a43" /><Relationship Type="http://schemas.openxmlformats.org/officeDocument/2006/relationships/notesMaster" Target="/ppt/notesMasters/notesMaster1.xml" Id="R7354bf9d8d434e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2d020fd81c44a9" /><Relationship Type="http://schemas.openxmlformats.org/officeDocument/2006/relationships/notesMaster" Target="/ppt/notesMasters/notesMaster1.xml" Id="Ra3224d779eab42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475868d3cb497b" /><Relationship Type="http://schemas.openxmlformats.org/officeDocument/2006/relationships/notesMaster" Target="/ppt/notesMasters/notesMaster1.xml" Id="Rc8815eaf39f64a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86438707a74846" /><Relationship Type="http://schemas.openxmlformats.org/officeDocument/2006/relationships/notesMaster" Target="/ppt/notesMasters/notesMaster1.xml" Id="R86dca3390efa43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5be772581d405d" /><Relationship Type="http://schemas.openxmlformats.org/officeDocument/2006/relationships/notesMaster" Target="/ppt/notesMasters/notesMaster1.xml" Id="Raf51c7da10554c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7464da9eb9400c" /><Relationship Type="http://schemas.openxmlformats.org/officeDocument/2006/relationships/notesMaster" Target="/ppt/notesMasters/notesMaster1.xml" Id="R9c0b4176a8fd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PRESTO-R is a research prototype for choosing network routes. Evidence comes from this project simulator, not a production network. Sources: README.md; results/report.md.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delivery-van analogy: choose among four roads. PRESTO-R tries to use warning clues without overreacting. This is the project motivation, not a universal claim about every routing system. Source: results/report.md sections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Fluid means traffic rates rather than individual packets. Failures are synthetic and may include designed precursors. Missing ablation is no-prediction plus switch penalty (reactive_dqn_pen). Sources: results/report.md sections 2,6; Phase 7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circle is a router/node; each line is a link. The graph layout is for readability, not geography. Exact node pairs are listed in presto/sim/topology.py as NSFNET_EDGES. Source: presto/sim/topology.py.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NSFNET historically names a U.S. research network. This project uses a standard graph topology as a repeatable benchmark-style test map; it does not recreate historical traffic or operations. Sources: configs/topo/nsfnet.yaml; results/report.md T1.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Simulator advances; agent gets telemetry and path features; predictor emits risk; DQN chooses an integer path action; reward is returned for learning. Future schedule and true link health are hidden from learned agents. Sources: presto-r-plan/00_overview.md; results/report.md T1.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from presto-r-plan/00_overview.md and README. Phases 0–6 are the core; optional Phase 7 is not in final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scenarios, not recorded production events. Some failures have warning precursors; others may be sudden. Sources: configs/scenario/*.yaml; results/report.md.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W=10, H=5. Bad link if down, true loss &gt;.05, or true delay &gt;3× base delay. Final held-out overall onset F1=.5296; precursor-only subgroup=.7476. All-sample metrics are easier because already-bad links are included. Sources: results/report.md T2; results/success_criteria.md; presto/predictor/gru.py.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DQN = Deep Q-Network. Stable-Baselines3 supplies DQN, trained by presto/agents/train.py. Oracle sees future schedule and is not deployable. The reactive policy is an internal inspired baseline, not a full external RQSMR reproduction. Sources: phase-3 and phase-4 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from presto/reward.py. Standard α=1, β=4, γ=0, μ=.05; PRESTO λ=.5. D normalized delay; L loss; T delivered/demand; S switch indicator; E normalized hops. With γ=0 there is no separate throughput bonus. λ selected on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74 and 97 refer to different checkpoints, not one combined run. Repository test files are under tests/. Sources: README; phase-5 and phase-6 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Seeds match across methods for paired testing. Across-training-seed standard deviation describes learned-agent variation. Sources: results/report.md; README.md; configs/grid/main.yaml.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values: report.md T3, mixed NSFNET. Reduction (20.988−5.197)/20.988 ≈75.2%. PDR difference .0017 = .17 percentage points. Phrase conclusion as a simulator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results/success_criteria.md. PRESTO did not meet the predeclared significant PDR-and-recovery comparison to reactive on failure cases. Slightly higher average PDR does not satisfy the full criterion.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results/report.md discussion; Phase 7 optional plan. Suggested next steps: improve onset prediction, finish the missing ablation, and validate with NS-3 and real traces.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bf68d3a8d45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92da9594847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248f9d4674f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a108c546441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ddff29f214d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962cadc4c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9BA107-A560-4DA5-AA0C-69BB46A47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AEA9BF-F8F6-4022-A2C2-B3B871497F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5F0E5A-F17B-48F4-B5CA-FA4F4675E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84F57A-ABC3-4D1D-8663-8E16EE1B03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BB1B1E-65E8-4C2F-ADA0-AF65699CF1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C98F5F-9452-44E4-A473-F4B2F31D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D98D77-8498-4FAB-99C5-FB449E642F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7E3481-753F-44DF-8DB8-4606C13DF8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769758-0942-4594-9DE6-1B971EC3D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365E18-88D2-4026-98F1-D619A5B8E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601e3701624c0a" /><Relationship Type="http://schemas.openxmlformats.org/officeDocument/2006/relationships/slideLayout" Target="/ppt/slideLayouts/slideLayout1.xml" Id="Rd42d3f7f1b1e455a" /><Relationship Type="http://schemas.openxmlformats.org/officeDocument/2006/relationships/slideLayout" Target="/ppt/slideLayouts/slideLayout2.xml" Id="R9a594fe984cc4d07" /><Relationship Type="http://schemas.openxmlformats.org/officeDocument/2006/relationships/slideLayout" Target="/ppt/slideLayouts/slideLayout3.xml" Id="R582cd386d7e5449b" /><Relationship Type="http://schemas.openxmlformats.org/officeDocument/2006/relationships/slideLayout" Target="/ppt/slideLayouts/slideLayout4.xml" Id="R5154c00a33c3486b" /><Relationship Type="http://schemas.openxmlformats.org/officeDocument/2006/relationships/slideLayout" Target="/ppt/slideLayouts/slideLayout5.xml" Id="R0bcc5c7f9e944e61" /><Relationship Type="http://schemas.openxmlformats.org/officeDocument/2006/relationships/slideLayout" Target="/ppt/slideLayouts/slideLayout6.xml" Id="Rd27c3b812055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2d3f7f1b1e455a"/>
    <p:sldLayoutId xmlns:r="http://schemas.openxmlformats.org/officeDocument/2006/relationships" id="2147483650" r:id="R9a594fe984cc4d07"/>
    <p:sldLayoutId xmlns:r="http://schemas.openxmlformats.org/officeDocument/2006/relationships" id="2147483651" r:id="R582cd386d7e5449b"/>
    <p:sldLayoutId xmlns:r="http://schemas.openxmlformats.org/officeDocument/2006/relationships" id="2147483652" r:id="R5154c00a33c3486b"/>
    <p:sldLayoutId xmlns:r="http://schemas.openxmlformats.org/officeDocument/2006/relationships" id="2147483653" r:id="R0bcc5c7f9e944e61"/>
    <p:sldLayoutId xmlns:r="http://schemas.openxmlformats.org/officeDocument/2006/relationships" id="2147483654" r:id="Rd27c3b812055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52d3a18354e79" /><Relationship Type="http://schemas.openxmlformats.org/officeDocument/2006/relationships/notesSlide" Target="/ppt/notesSlides/notesSlide1.xml" Id="Rf63fdb2c4b53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f270e73d54b5f" /><Relationship Type="http://schemas.openxmlformats.org/officeDocument/2006/relationships/notesSlide" Target="/ppt/notesSlides/notesSlide2.xml" Id="R347b06d831f0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a58c4b8774a20" /><Relationship Type="http://schemas.openxmlformats.org/officeDocument/2006/relationships/notesSlide" Target="/ppt/notesSlides/notesSlide3.xml" Id="Rf9de8db47ba642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0efd78b524f0d" /><Relationship Type="http://schemas.openxmlformats.org/officeDocument/2006/relationships/image" Target="/ppt/media/image.png" Id="R69eb1a240118404f" /><Relationship Type="http://schemas.openxmlformats.org/officeDocument/2006/relationships/notesSlide" Target="/ppt/notesSlides/notesSlide4.xml" Id="R5b450ac457b047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7d8888f5f4404" /><Relationship Type="http://schemas.openxmlformats.org/officeDocument/2006/relationships/notesSlide" Target="/ppt/notesSlides/notesSlide5.xml" Id="R4f72d6d558954d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2402e81a84ec9" /><Relationship Type="http://schemas.openxmlformats.org/officeDocument/2006/relationships/notesSlide" Target="/ppt/notesSlides/notesSlide6.xml" Id="Rdc87da44964549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4c08119c84986" /><Relationship Type="http://schemas.openxmlformats.org/officeDocument/2006/relationships/notesSlide" Target="/ppt/notesSlides/notesSlide7.xml" Id="R1864e436bff845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6fcba024940e9" /><Relationship Type="http://schemas.openxmlformats.org/officeDocument/2006/relationships/notesSlide" Target="/ppt/notesSlides/notesSlide8.xml" Id="R85f257d98ba143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fc46ad3c624312" /><Relationship Type="http://schemas.openxmlformats.org/officeDocument/2006/relationships/image" Target="/ppt/media/image2.png" Id="Rb8cfaae6fea34094" /><Relationship Type="http://schemas.openxmlformats.org/officeDocument/2006/relationships/notesSlide" Target="/ppt/notesSlides/notesSlide9.xml" Id="R57b7fc64430a41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71c5cedf3e47c7" /><Relationship Type="http://schemas.openxmlformats.org/officeDocument/2006/relationships/notesSlide" Target="/ppt/notesSlides/notesSlide10.xml" Id="Rb5b3f30aa5364f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be77b9a68453d" /><Relationship Type="http://schemas.openxmlformats.org/officeDocument/2006/relationships/notesSlide" Target="/ppt/notesSlides/notesSlide11.xml" Id="Rbecfde80416641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7833fb54040b3" /><Relationship Type="http://schemas.openxmlformats.org/officeDocument/2006/relationships/notesSlide" Target="/ppt/notesSlides/notesSlide12.xml" Id="R2430ccd3a10d48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2601cb4334f15" /><Relationship Type="http://schemas.openxmlformats.org/officeDocument/2006/relationships/notesSlide" Target="/ppt/notesSlides/notesSlide13.xml" Id="Rf265fa9de46441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86d6171f74bd8" /><Relationship Type="http://schemas.openxmlformats.org/officeDocument/2006/relationships/image" Target="/ppt/media/image3.png" Id="Re765a5ee49644d99" /><Relationship Type="http://schemas.openxmlformats.org/officeDocument/2006/relationships/notesSlide" Target="/ppt/notesSlides/notesSlide14.xml" Id="Rc139afec5c1446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eee55cd9448c6" /><Relationship Type="http://schemas.openxmlformats.org/officeDocument/2006/relationships/notesSlide" Target="/ppt/notesSlides/notesSlide15.xml" Id="R99447c0ea6cc4e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140c9d9ca4798" /><Relationship Type="http://schemas.openxmlformats.org/officeDocument/2006/relationships/notesSlide" Target="/ppt/notesSlides/notesSlide16.xml" Id="R39445a800966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B4636-351D-47A7-8658-1002450C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</a:defRPr>
            </a:defPPr>
            <a:lvl1pPr algn="l">
              <a:defRPr sz="4950" b="1">
                <a:solidFill>
                  <a:srgbClr val="FFFFFF"/>
                </a:solidFill>
              </a:defRPr>
            </a:lvl1pPr>
            <a:lvl2pPr algn="l">
              <a:defRPr sz="4950" b="1">
                <a:solidFill>
                  <a:srgbClr val="FFFFFF"/>
                </a:solidFill>
              </a:defRPr>
            </a:lvl2pPr>
            <a:lvl3pPr algn="l">
              <a:defRPr sz="4950" b="1">
                <a:solidFill>
                  <a:srgbClr val="FFFFFF"/>
                </a:solidFill>
              </a:defRPr>
            </a:lvl3pPr>
            <a:lvl4pPr algn="l">
              <a:defRPr sz="4950" b="1">
                <a:solidFill>
                  <a:srgbClr val="FFFFFF"/>
                </a:solidFill>
              </a:defRPr>
            </a:lvl4pPr>
            <a:lvl5pPr algn="l">
              <a:defRPr sz="4950" b="1">
                <a:solidFill>
                  <a:srgbClr val="FFFFFF"/>
                </a:solidFill>
              </a:defRPr>
            </a:lvl5pPr>
            <a:lvl6pPr algn="l">
              <a:defRPr sz="4950" b="1">
                <a:solidFill>
                  <a:srgbClr val="FFFFFF"/>
                </a:solidFill>
              </a:defRPr>
            </a:lvl6pPr>
            <a:lvl7pPr algn="l">
              <a:defRPr sz="4950" b="1">
                <a:solidFill>
                  <a:srgbClr val="FFFFFF"/>
                </a:solidFill>
              </a:defRPr>
            </a:lvl7pPr>
            <a:lvl8pPr algn="l">
              <a:defRPr sz="4950" b="1">
                <a:solidFill>
                  <a:srgbClr val="FFFFFF"/>
                </a:solidFill>
              </a:defRPr>
            </a:lvl8pPr>
            <a:lvl9pPr algn="l"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PRESTO-R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6DF54-B0B8-413F-AF11-AC35469B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DCEAF1"/>
                </a:solidFill>
              </a:defRPr>
            </a:defPPr>
            <a:lvl1pPr algn="l">
              <a:defRPr sz="2250" b="0">
                <a:solidFill>
                  <a:srgbClr val="DCEAF1"/>
                </a:solidFill>
              </a:defRPr>
            </a:lvl1pPr>
            <a:lvl2pPr algn="l">
              <a:defRPr sz="2250" b="0">
                <a:solidFill>
                  <a:srgbClr val="DCEAF1"/>
                </a:solidFill>
              </a:defRPr>
            </a:lvl2pPr>
            <a:lvl3pPr algn="l">
              <a:defRPr sz="2250" b="0">
                <a:solidFill>
                  <a:srgbClr val="DCEAF1"/>
                </a:solidFill>
              </a:defRPr>
            </a:lvl3pPr>
            <a:lvl4pPr algn="l">
              <a:defRPr sz="2250" b="0">
                <a:solidFill>
                  <a:srgbClr val="DCEAF1"/>
                </a:solidFill>
              </a:defRPr>
            </a:lvl4pPr>
            <a:lvl5pPr algn="l">
              <a:defRPr sz="2250" b="0">
                <a:solidFill>
                  <a:srgbClr val="DCEAF1"/>
                </a:solidFill>
              </a:defRPr>
            </a:lvl5pPr>
            <a:lvl6pPr algn="l">
              <a:defRPr sz="2250" b="0">
                <a:solidFill>
                  <a:srgbClr val="DCEAF1"/>
                </a:solidFill>
              </a:defRPr>
            </a:lvl6pPr>
            <a:lvl7pPr algn="l">
              <a:defRPr sz="2250" b="0">
                <a:solidFill>
                  <a:srgbClr val="DCEAF1"/>
                </a:solidFill>
              </a:defRPr>
            </a:lvl7pPr>
            <a:lvl8pPr algn="l">
              <a:defRPr sz="2250" b="0">
                <a:solidFill>
                  <a:srgbClr val="DCEAF1"/>
                </a:solidFill>
              </a:defRPr>
            </a:lvl8pPr>
            <a:lvl9pPr algn="l">
              <a:defRPr sz="2250" b="0">
                <a:solidFill>
                  <a:srgbClr val="DCEAF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DCEAF1"/>
                </a:solidFill>
              </a:defRPr>
            </a:pPr>
            <a:r>
              <a:rPr sz="2250" b="0">
                <a:solidFill>
                  <a:srgbClr val="DCEAF1"/>
                </a:solidFill>
              </a:rPr>
              <a:t>Predictive, Stability-Aware Reinforcement Learning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CE254-86EF-4E42-8F84-E7B1AAE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47662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E2A4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16658-A29B-41B3-9F97-A92B4901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</a:defRPr>
            </a:defPPr>
            <a:lvl1pPr algn="l">
              <a:defRPr sz="1950" b="0">
                <a:solidFill>
                  <a:srgbClr val="FFFFFF"/>
                </a:solidFill>
              </a:defRPr>
            </a:lvl1pPr>
            <a:lvl2pPr algn="l">
              <a:defRPr sz="1950" b="0">
                <a:solidFill>
                  <a:srgbClr val="FFFFFF"/>
                </a:solidFill>
              </a:defRPr>
            </a:lvl2pPr>
            <a:lvl3pPr algn="l">
              <a:defRPr sz="1950" b="0">
                <a:solidFill>
                  <a:srgbClr val="FFFFFF"/>
                </a:solidFill>
              </a:defRPr>
            </a:lvl3pPr>
            <a:lvl4pPr algn="l">
              <a:defRPr sz="1950" b="0">
                <a:solidFill>
                  <a:srgbClr val="FFFFFF"/>
                </a:solidFill>
              </a:defRPr>
            </a:lvl4pPr>
            <a:lvl5pPr algn="l">
              <a:defRPr sz="1950" b="0">
                <a:solidFill>
                  <a:srgbClr val="FFFFFF"/>
                </a:solidFill>
              </a:defRPr>
            </a:lvl5pPr>
            <a:lvl6pPr algn="l">
              <a:defRPr sz="1950" b="0">
                <a:solidFill>
                  <a:srgbClr val="FFFFFF"/>
                </a:solidFill>
              </a:defRPr>
            </a:lvl6pPr>
            <a:lvl7pPr algn="l">
              <a:defRPr sz="1950" b="0">
                <a:solidFill>
                  <a:srgbClr val="FFFFFF"/>
                </a:solidFill>
              </a:defRPr>
            </a:lvl7pPr>
            <a:lvl8pPr algn="l">
              <a:defRPr sz="1950" b="0">
                <a:solidFill>
                  <a:srgbClr val="FFFFFF"/>
                </a:solidFill>
              </a:defRPr>
            </a:lvl8pPr>
            <a:lvl9pPr algn="l">
              <a:defRPr sz="19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A clear explanation of the project, experiments, and actual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47074-0B1B-41A4-89B4-244D73F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CEAF1"/>
                </a:solidFill>
              </a:defRPr>
            </a:defPPr>
            <a:lvl1pPr algn="l">
              <a:defRPr sz="1275" b="0">
                <a:solidFill>
                  <a:srgbClr val="DCEAF1"/>
                </a:solidFill>
              </a:defRPr>
            </a:lvl1pPr>
            <a:lvl2pPr algn="l">
              <a:defRPr sz="1275" b="0">
                <a:solidFill>
                  <a:srgbClr val="DCEAF1"/>
                </a:solidFill>
              </a:defRPr>
            </a:lvl2pPr>
            <a:lvl3pPr algn="l">
              <a:defRPr sz="1275" b="0">
                <a:solidFill>
                  <a:srgbClr val="DCEAF1"/>
                </a:solidFill>
              </a:defRPr>
            </a:lvl3pPr>
            <a:lvl4pPr algn="l">
              <a:defRPr sz="1275" b="0">
                <a:solidFill>
                  <a:srgbClr val="DCEAF1"/>
                </a:solidFill>
              </a:defRPr>
            </a:lvl4pPr>
            <a:lvl5pPr algn="l">
              <a:defRPr sz="1275" b="0">
                <a:solidFill>
                  <a:srgbClr val="DCEAF1"/>
                </a:solidFill>
              </a:defRPr>
            </a:lvl5pPr>
            <a:lvl6pPr algn="l">
              <a:defRPr sz="1275" b="0">
                <a:solidFill>
                  <a:srgbClr val="DCEAF1"/>
                </a:solidFill>
              </a:defRPr>
            </a:lvl6pPr>
            <a:lvl7pPr algn="l">
              <a:defRPr sz="1275" b="0">
                <a:solidFill>
                  <a:srgbClr val="DCEAF1"/>
                </a:solidFill>
              </a:defRPr>
            </a:lvl7pPr>
            <a:lvl8pPr algn="l">
              <a:defRPr sz="1275" b="0">
                <a:solidFill>
                  <a:srgbClr val="DCEAF1"/>
                </a:solidFill>
              </a:defRPr>
            </a:lvl8pPr>
            <a:lvl9pPr algn="l">
              <a:defRPr sz="1275" b="0">
                <a:solidFill>
                  <a:srgbClr val="DCEAF1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CEAF1"/>
                </a:solidFill>
              </a:defRPr>
            </a:pPr>
            <a:r>
              <a:rPr sz="1275" b="0">
                <a:solidFill>
                  <a:srgbClr val="DCEAF1"/>
                </a:solidFill>
              </a:rPr>
              <a:t>Faculty presentation • Evidence from the completed simulator experiments</a:t>
            </a:r>
          </a:p>
        </p:txBody>
      </p:sp>
    </p:spTree>
    <p:extLst>
      <p:ext uri="{BB962C8B-B14F-4D97-AF65-F5344CB8AC3E}">
        <p14:creationId xmlns:p14="http://schemas.microsoft.com/office/powerpoint/2010/main" val="1735964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8988C-B88F-428F-B802-D7853568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routing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42491-6033-4937-ADD1-5C377321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A route may become slow, crowded, or unavailable while data is travelling.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5A3D7-406B-41E0-A029-AC0C0B71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38BBC-9C06-43FB-AEEA-AE87D415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7D8D"/>
                </a:solidFill>
              </a:defRPr>
            </a:defPPr>
            <a:lvl1pPr algn="l">
              <a:defRPr sz="2100" b="1">
                <a:solidFill>
                  <a:srgbClr val="167D8D"/>
                </a:solidFill>
              </a:defRPr>
            </a:lvl1pPr>
            <a:lvl2pPr algn="l">
              <a:defRPr sz="2100" b="1">
                <a:solidFill>
                  <a:srgbClr val="167D8D"/>
                </a:solidFill>
              </a:defRPr>
            </a:lvl2pPr>
            <a:lvl3pPr algn="l">
              <a:defRPr sz="2100" b="1">
                <a:solidFill>
                  <a:srgbClr val="167D8D"/>
                </a:solidFill>
              </a:defRPr>
            </a:lvl3pPr>
            <a:lvl4pPr algn="l">
              <a:defRPr sz="2100" b="1">
                <a:solidFill>
                  <a:srgbClr val="167D8D"/>
                </a:solidFill>
              </a:defRPr>
            </a:lvl4pPr>
            <a:lvl5pPr algn="l">
              <a:defRPr sz="2100" b="1">
                <a:solidFill>
                  <a:srgbClr val="167D8D"/>
                </a:solidFill>
              </a:defRPr>
            </a:lvl5pPr>
            <a:lvl6pPr algn="l">
              <a:defRPr sz="2100" b="1">
                <a:solidFill>
                  <a:srgbClr val="167D8D"/>
                </a:solidFill>
              </a:defRPr>
            </a:lvl6pPr>
            <a:lvl7pPr algn="l">
              <a:defRPr sz="2100" b="1">
                <a:solidFill>
                  <a:srgbClr val="167D8D"/>
                </a:solidFill>
              </a:defRPr>
            </a:lvl7pPr>
            <a:lvl8pPr algn="l">
              <a:defRPr sz="2100" b="1">
                <a:solidFill>
                  <a:srgbClr val="167D8D"/>
                </a:solidFill>
              </a:defRPr>
            </a:lvl8pPr>
            <a:lvl9pPr algn="l">
              <a:defRPr sz="21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7D887-0168-42F1-8969-EE023BA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95450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92A3A"/>
                </a:solidFill>
              </a:defRPr>
            </a:defPPr>
            <a:lvl1pPr algn="l">
              <a:defRPr sz="1875" b="0">
                <a:solidFill>
                  <a:srgbClr val="192A3A"/>
                </a:solidFill>
              </a:defRPr>
            </a:lvl1pPr>
            <a:lvl2pPr algn="l">
              <a:defRPr sz="1875" b="0">
                <a:solidFill>
                  <a:srgbClr val="192A3A"/>
                </a:solidFill>
              </a:defRPr>
            </a:lvl2pPr>
            <a:lvl3pPr algn="l">
              <a:defRPr sz="1875" b="0">
                <a:solidFill>
                  <a:srgbClr val="192A3A"/>
                </a:solidFill>
              </a:defRPr>
            </a:lvl3pPr>
            <a:lvl4pPr algn="l">
              <a:defRPr sz="1875" b="0">
                <a:solidFill>
                  <a:srgbClr val="192A3A"/>
                </a:solidFill>
              </a:defRPr>
            </a:lvl4pPr>
            <a:lvl5pPr algn="l">
              <a:defRPr sz="1875" b="0">
                <a:solidFill>
                  <a:srgbClr val="192A3A"/>
                </a:solidFill>
              </a:defRPr>
            </a:lvl5pPr>
            <a:lvl6pPr algn="l">
              <a:defRPr sz="1875" b="0">
                <a:solidFill>
                  <a:srgbClr val="192A3A"/>
                </a:solidFill>
              </a:defRPr>
            </a:lvl6pPr>
            <a:lvl7pPr algn="l">
              <a:defRPr sz="1875" b="0">
                <a:solidFill>
                  <a:srgbClr val="192A3A"/>
                </a:solidFill>
              </a:defRPr>
            </a:lvl7pPr>
            <a:lvl8pPr algn="l">
              <a:defRPr sz="1875" b="0">
                <a:solidFill>
                  <a:srgbClr val="192A3A"/>
                </a:solidFill>
              </a:defRPr>
            </a:lvl8pPr>
            <a:lvl9pPr algn="l">
              <a:defRPr sz="18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92A3A"/>
                </a:solidFill>
              </a:defRPr>
            </a:pPr>
            <a:r>
              <a:rPr sz="1875" b="0">
                <a:solidFill>
                  <a:srgbClr val="192A3A"/>
                </a:solidFill>
              </a:rPr>
              <a:t>A reactive router waits for visible trouble, then changes route.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21986-8269-4B3B-92FF-6C81394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7D8D"/>
                </a:solidFill>
              </a:defRPr>
            </a:defPPr>
            <a:lvl1pPr algn="l">
              <a:defRPr sz="2100" b="1">
                <a:solidFill>
                  <a:srgbClr val="167D8D"/>
                </a:solidFill>
              </a:defRPr>
            </a:lvl1pPr>
            <a:lvl2pPr algn="l">
              <a:defRPr sz="2100" b="1">
                <a:solidFill>
                  <a:srgbClr val="167D8D"/>
                </a:solidFill>
              </a:defRPr>
            </a:lvl2pPr>
            <a:lvl3pPr algn="l">
              <a:defRPr sz="2100" b="1">
                <a:solidFill>
                  <a:srgbClr val="167D8D"/>
                </a:solidFill>
              </a:defRPr>
            </a:lvl3pPr>
            <a:lvl4pPr algn="l">
              <a:defRPr sz="2100" b="1">
                <a:solidFill>
                  <a:srgbClr val="167D8D"/>
                </a:solidFill>
              </a:defRPr>
            </a:lvl4pPr>
            <a:lvl5pPr algn="l">
              <a:defRPr sz="2100" b="1">
                <a:solidFill>
                  <a:srgbClr val="167D8D"/>
                </a:solidFill>
              </a:defRPr>
            </a:lvl5pPr>
            <a:lvl6pPr algn="l">
              <a:defRPr sz="2100" b="1">
                <a:solidFill>
                  <a:srgbClr val="167D8D"/>
                </a:solidFill>
              </a:defRPr>
            </a:lvl6pPr>
            <a:lvl7pPr algn="l">
              <a:defRPr sz="2100" b="1">
                <a:solidFill>
                  <a:srgbClr val="167D8D"/>
                </a:solidFill>
              </a:defRPr>
            </a:lvl7pPr>
            <a:lvl8pPr algn="l">
              <a:defRPr sz="2100" b="1">
                <a:solidFill>
                  <a:srgbClr val="167D8D"/>
                </a:solidFill>
              </a:defRPr>
            </a:lvl8pPr>
            <a:lvl9pPr algn="l">
              <a:defRPr sz="21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9744D-00F1-4AB7-ABFE-FDAB04F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92A3A"/>
                </a:solidFill>
              </a:defRPr>
            </a:defPPr>
            <a:lvl1pPr algn="l">
              <a:defRPr sz="1875" b="0">
                <a:solidFill>
                  <a:srgbClr val="192A3A"/>
                </a:solidFill>
              </a:defRPr>
            </a:lvl1pPr>
            <a:lvl2pPr algn="l">
              <a:defRPr sz="1875" b="0">
                <a:solidFill>
                  <a:srgbClr val="192A3A"/>
                </a:solidFill>
              </a:defRPr>
            </a:lvl2pPr>
            <a:lvl3pPr algn="l">
              <a:defRPr sz="1875" b="0">
                <a:solidFill>
                  <a:srgbClr val="192A3A"/>
                </a:solidFill>
              </a:defRPr>
            </a:lvl3pPr>
            <a:lvl4pPr algn="l">
              <a:defRPr sz="1875" b="0">
                <a:solidFill>
                  <a:srgbClr val="192A3A"/>
                </a:solidFill>
              </a:defRPr>
            </a:lvl4pPr>
            <a:lvl5pPr algn="l">
              <a:defRPr sz="1875" b="0">
                <a:solidFill>
                  <a:srgbClr val="192A3A"/>
                </a:solidFill>
              </a:defRPr>
            </a:lvl5pPr>
            <a:lvl6pPr algn="l">
              <a:defRPr sz="1875" b="0">
                <a:solidFill>
                  <a:srgbClr val="192A3A"/>
                </a:solidFill>
              </a:defRPr>
            </a:lvl6pPr>
            <a:lvl7pPr algn="l">
              <a:defRPr sz="1875" b="0">
                <a:solidFill>
                  <a:srgbClr val="192A3A"/>
                </a:solidFill>
              </a:defRPr>
            </a:lvl7pPr>
            <a:lvl8pPr algn="l">
              <a:defRPr sz="1875" b="0">
                <a:solidFill>
                  <a:srgbClr val="192A3A"/>
                </a:solidFill>
              </a:defRPr>
            </a:lvl8pPr>
            <a:lvl9pPr algn="l">
              <a:defRPr sz="18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92A3A"/>
                </a:solidFill>
              </a:defRPr>
            </a:pPr>
            <a:r>
              <a:rPr sz="1875" b="0">
                <a:solidFill>
                  <a:srgbClr val="192A3A"/>
                </a:solidFill>
              </a:rPr>
              <a:t>A predictive router may leave early, but can change routes too often.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FEB20-6DDF-42EB-A0FE-0E9E362F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7D8D"/>
                </a:solidFill>
              </a:defRPr>
            </a:defPPr>
            <a:lvl1pPr algn="l">
              <a:defRPr sz="2100" b="1">
                <a:solidFill>
                  <a:srgbClr val="167D8D"/>
                </a:solidFill>
              </a:defRPr>
            </a:lvl1pPr>
            <a:lvl2pPr algn="l">
              <a:defRPr sz="2100" b="1">
                <a:solidFill>
                  <a:srgbClr val="167D8D"/>
                </a:solidFill>
              </a:defRPr>
            </a:lvl2pPr>
            <a:lvl3pPr algn="l">
              <a:defRPr sz="2100" b="1">
                <a:solidFill>
                  <a:srgbClr val="167D8D"/>
                </a:solidFill>
              </a:defRPr>
            </a:lvl3pPr>
            <a:lvl4pPr algn="l">
              <a:defRPr sz="2100" b="1">
                <a:solidFill>
                  <a:srgbClr val="167D8D"/>
                </a:solidFill>
              </a:defRPr>
            </a:lvl4pPr>
            <a:lvl5pPr algn="l">
              <a:defRPr sz="2100" b="1">
                <a:solidFill>
                  <a:srgbClr val="167D8D"/>
                </a:solidFill>
              </a:defRPr>
            </a:lvl5pPr>
            <a:lvl6pPr algn="l">
              <a:defRPr sz="2100" b="1">
                <a:solidFill>
                  <a:srgbClr val="167D8D"/>
                </a:solidFill>
              </a:defRPr>
            </a:lvl6pPr>
            <a:lvl7pPr algn="l">
              <a:defRPr sz="2100" b="1">
                <a:solidFill>
                  <a:srgbClr val="167D8D"/>
                </a:solidFill>
              </a:defRPr>
            </a:lvl7pPr>
            <a:lvl8pPr algn="l">
              <a:defRPr sz="2100" b="1">
                <a:solidFill>
                  <a:srgbClr val="167D8D"/>
                </a:solidFill>
              </a:defRPr>
            </a:lvl8pPr>
            <a:lvl9pPr algn="l">
              <a:defRPr sz="21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3AFF9-D16D-4E1B-8C9B-356BFFD1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92A3A"/>
                </a:solidFill>
              </a:defRPr>
            </a:defPPr>
            <a:lvl1pPr algn="l">
              <a:defRPr sz="1875" b="0">
                <a:solidFill>
                  <a:srgbClr val="192A3A"/>
                </a:solidFill>
              </a:defRPr>
            </a:lvl1pPr>
            <a:lvl2pPr algn="l">
              <a:defRPr sz="1875" b="0">
                <a:solidFill>
                  <a:srgbClr val="192A3A"/>
                </a:solidFill>
              </a:defRPr>
            </a:lvl2pPr>
            <a:lvl3pPr algn="l">
              <a:defRPr sz="1875" b="0">
                <a:solidFill>
                  <a:srgbClr val="192A3A"/>
                </a:solidFill>
              </a:defRPr>
            </a:lvl3pPr>
            <a:lvl4pPr algn="l">
              <a:defRPr sz="1875" b="0">
                <a:solidFill>
                  <a:srgbClr val="192A3A"/>
                </a:solidFill>
              </a:defRPr>
            </a:lvl4pPr>
            <a:lvl5pPr algn="l">
              <a:defRPr sz="1875" b="0">
                <a:solidFill>
                  <a:srgbClr val="192A3A"/>
                </a:solidFill>
              </a:defRPr>
            </a:lvl5pPr>
            <a:lvl6pPr algn="l">
              <a:defRPr sz="1875" b="0">
                <a:solidFill>
                  <a:srgbClr val="192A3A"/>
                </a:solidFill>
              </a:defRPr>
            </a:lvl6pPr>
            <a:lvl7pPr algn="l">
              <a:defRPr sz="1875" b="0">
                <a:solidFill>
                  <a:srgbClr val="192A3A"/>
                </a:solidFill>
              </a:defRPr>
            </a:lvl7pPr>
            <a:lvl8pPr algn="l">
              <a:defRPr sz="1875" b="0">
                <a:solidFill>
                  <a:srgbClr val="192A3A"/>
                </a:solidFill>
              </a:defRPr>
            </a:lvl8pPr>
            <a:lvl9pPr algn="l">
              <a:defRPr sz="18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92A3A"/>
                </a:solidFill>
              </a:defRPr>
            </a:pPr>
            <a:r>
              <a:rPr sz="1875" b="0">
                <a:solidFill>
                  <a:srgbClr val="192A3A"/>
                </a:solidFill>
              </a:rPr>
              <a:t>The project tests whether prediction plus a switching cost balances delivery and stability.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41872-056B-4225-B755-E6A4B1D7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F1F3"/>
          </a:solidFill>
          <a:ln xmlns:a="http://schemas.openxmlformats.org/drawingml/2006/main" w="9525">
            <a:solidFill>
              <a:srgbClr val="B6D3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3C694-6A92-4943-B54F-CBFB7778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67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7324D"/>
                </a:solidFill>
              </a:defRPr>
            </a:defPPr>
            <a:lvl1pPr algn="ctr">
              <a:defRPr sz="1650" b="1">
                <a:solidFill>
                  <a:srgbClr val="17324D"/>
                </a:solidFill>
              </a:defRPr>
            </a:lvl1pPr>
            <a:lvl2pPr algn="ctr">
              <a:defRPr sz="1650" b="1">
                <a:solidFill>
                  <a:srgbClr val="17324D"/>
                </a:solidFill>
              </a:defRPr>
            </a:lvl2pPr>
            <a:lvl3pPr algn="ctr">
              <a:defRPr sz="1650" b="1">
                <a:solidFill>
                  <a:srgbClr val="17324D"/>
                </a:solidFill>
              </a:defRPr>
            </a:lvl3pPr>
            <a:lvl4pPr algn="ctr">
              <a:defRPr sz="1650" b="1">
                <a:solidFill>
                  <a:srgbClr val="17324D"/>
                </a:solidFill>
              </a:defRPr>
            </a:lvl4pPr>
            <a:lvl5pPr algn="ctr">
              <a:defRPr sz="1650" b="1">
                <a:solidFill>
                  <a:srgbClr val="17324D"/>
                </a:solidFill>
              </a:defRPr>
            </a:lvl5pPr>
            <a:lvl6pPr algn="ctr">
              <a:defRPr sz="1650" b="1">
                <a:solidFill>
                  <a:srgbClr val="17324D"/>
                </a:solidFill>
              </a:defRPr>
            </a:lvl6pPr>
            <a:lvl7pPr algn="ctr">
              <a:defRPr sz="1650" b="1">
                <a:solidFill>
                  <a:srgbClr val="17324D"/>
                </a:solidFill>
              </a:defRPr>
            </a:lvl7pPr>
            <a:lvl8pPr algn="ctr">
              <a:defRPr sz="1650" b="1">
                <a:solidFill>
                  <a:srgbClr val="17324D"/>
                </a:solidFill>
              </a:defRPr>
            </a:lvl8pPr>
            <a:lvl9pPr algn="ctr">
              <a:defRPr sz="16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Route flapping means switching back and forth too frequently.</a:t>
            </a:r>
          </a:p>
        </p:txBody>
      </p:sp>
    </p:spTree>
    <p:extLst>
      <p:ext uri="{BB962C8B-B14F-4D97-AF65-F5344CB8AC3E}">
        <p14:creationId xmlns:p14="http://schemas.microsoft.com/office/powerpoint/2010/main" val="2052443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19649-168E-4456-8B84-2DCE255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Aim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67377-ABEE-4416-A675-B552D8F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What this repository actually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C2181-B273-45F8-A08F-55DA8087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A0804-F03D-48D4-9432-0F2CFB08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D8D"/>
                </a:solidFill>
              </a:defRPr>
            </a:defPPr>
            <a:lvl1pPr algn="l">
              <a:defRPr sz="1200" b="1">
                <a:solidFill>
                  <a:srgbClr val="167D8D"/>
                </a:solidFill>
              </a:defRPr>
            </a:lvl1pPr>
            <a:lvl2pPr algn="l">
              <a:defRPr sz="1200" b="1">
                <a:solidFill>
                  <a:srgbClr val="167D8D"/>
                </a:solidFill>
              </a:defRPr>
            </a:lvl2pPr>
            <a:lvl3pPr algn="l">
              <a:defRPr sz="1200" b="1">
                <a:solidFill>
                  <a:srgbClr val="167D8D"/>
                </a:solidFill>
              </a:defRPr>
            </a:lvl3pPr>
            <a:lvl4pPr algn="l">
              <a:defRPr sz="1200" b="1">
                <a:solidFill>
                  <a:srgbClr val="167D8D"/>
                </a:solidFill>
              </a:defRPr>
            </a:lvl4pPr>
            <a:lvl5pPr algn="l">
              <a:defRPr sz="1200" b="1">
                <a:solidFill>
                  <a:srgbClr val="167D8D"/>
                </a:solidFill>
              </a:defRPr>
            </a:lvl5pPr>
            <a:lvl6pPr algn="l">
              <a:defRPr sz="1200" b="1">
                <a:solidFill>
                  <a:srgbClr val="167D8D"/>
                </a:solidFill>
              </a:defRPr>
            </a:lvl6pPr>
            <a:lvl7pPr algn="l">
              <a:defRPr sz="1200" b="1">
                <a:solidFill>
                  <a:srgbClr val="167D8D"/>
                </a:solidFill>
              </a:defRPr>
            </a:lvl7pPr>
            <a:lvl8pPr algn="l">
              <a:defRPr sz="1200" b="1">
                <a:solidFill>
                  <a:srgbClr val="167D8D"/>
                </a:solidFill>
              </a:defRPr>
            </a:lvl8pPr>
            <a:lvl9pPr algn="l">
              <a:defRPr sz="12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IN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2614E-5A2F-44ED-8A3C-6E030034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1ABB8-FDA4-4E68-83DF-59B992CC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64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One managed flow plus background traffic.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75AF3-D1FC-4B24-850F-66D8A23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6126A-6511-411E-8496-C4C55D2D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464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Python fluid simulator; synthetic congestion and failures.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6381E-70BF-4786-8C21-41B6311F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2A641-5E81-43D7-91D3-0FB6F251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464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GRU risk predictor + DQN route choice + switch penalty.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1EC4E-8A65-42C4-9D64-7D43C903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DB726-86D8-4285-98D5-FDD8247A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64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NSFNET and generated RGG; five scenarios.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678CD-ABAC-4692-8D07-D2DBDE22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B54848"/>
                </a:solidFill>
              </a:defRPr>
            </a:defPPr>
            <a:lvl1pPr algn="l">
              <a:defRPr sz="1200" b="1">
                <a:solidFill>
                  <a:srgbClr val="B54848"/>
                </a:solidFill>
              </a:defRPr>
            </a:lvl1pPr>
            <a:lvl2pPr algn="l">
              <a:defRPr sz="1200" b="1">
                <a:solidFill>
                  <a:srgbClr val="B54848"/>
                </a:solidFill>
              </a:defRPr>
            </a:lvl2pPr>
            <a:lvl3pPr algn="l">
              <a:defRPr sz="1200" b="1">
                <a:solidFill>
                  <a:srgbClr val="B54848"/>
                </a:solidFill>
              </a:defRPr>
            </a:lvl3pPr>
            <a:lvl4pPr algn="l">
              <a:defRPr sz="1200" b="1">
                <a:solidFill>
                  <a:srgbClr val="B54848"/>
                </a:solidFill>
              </a:defRPr>
            </a:lvl4pPr>
            <a:lvl5pPr algn="l">
              <a:defRPr sz="1200" b="1">
                <a:solidFill>
                  <a:srgbClr val="B54848"/>
                </a:solidFill>
              </a:defRPr>
            </a:lvl5pPr>
            <a:lvl6pPr algn="l">
              <a:defRPr sz="1200" b="1">
                <a:solidFill>
                  <a:srgbClr val="B54848"/>
                </a:solidFill>
              </a:defRPr>
            </a:lvl6pPr>
            <a:lvl7pPr algn="l">
              <a:defRPr sz="1200" b="1">
                <a:solidFill>
                  <a:srgbClr val="B54848"/>
                </a:solidFill>
              </a:defRPr>
            </a:lvl7pPr>
            <a:lvl8pPr algn="l">
              <a:defRPr sz="1200" b="1">
                <a:solidFill>
                  <a:srgbClr val="B54848"/>
                </a:solidFill>
              </a:defRPr>
            </a:lvl8pPr>
            <a:lvl9pPr algn="l">
              <a:defRPr sz="1200" b="1">
                <a:solidFill>
                  <a:srgbClr val="B54848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54848"/>
                </a:solidFill>
              </a:defRPr>
            </a:pPr>
            <a:r>
              <a:rPr sz="1200" b="1">
                <a:solidFill>
                  <a:srgbClr val="B54848"/>
                </a:solidFill>
              </a:rPr>
              <a:t>OUT OF SCOPE OR NOT 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624ED-76DF-4CCA-B852-5A44BDAC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93E55-71DC-44B6-943A-E3BC383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Production deployment or real traffic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54453-9A00-4C8B-B402-BEC525C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76966-D275-4DE6-AEE8-B7B563B2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Multiple managed flows or multipath splitting.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767C2-9C8D-446C-9606-BB9B152C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61890-64C1-49A3-BEC0-C4E63746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NS-3 packet simulation (optional Phase 7, incomplete).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70435-0A6D-407C-A786-AB5B1B5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606E6-4DEA-4C66-9596-F9EA21E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2435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One prediction × penalty ablation cell was not run.</a:t>
            </a:r>
          </a:p>
        </p:txBody>
      </p:sp>
    </p:spTree>
    <p:extLst>
      <p:ext uri="{BB962C8B-B14F-4D97-AF65-F5344CB8AC3E}">
        <p14:creationId xmlns:p14="http://schemas.microsoft.com/office/powerpoint/2010/main" val="1558836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5956B-D9C7-4789-9F0C-0F4DA1FE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NSFNET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F60DF-80C4-4169-B42B-6D0AF437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A topology is a map of routers and the links connecting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E505F-F95C-403A-9315-C8B553F1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833B3-55C6-4AB6-9A25-BCE8EAB56F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b1a240118404f"/>
          <a:stretch xmlns:a="http://schemas.openxmlformats.org/drawingml/2006/main"/>
        </p:blipFill>
        <p:spPr>
          <a:xfrm xmlns:a="http://schemas.openxmlformats.org/drawingml/2006/main">
            <a:off x="1411378" y="1381125"/>
            <a:ext cx="6702245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F744C-A14F-4C7B-9B5F-877F4DF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5EFF5"/>
          </a:solidFill>
          <a:ln xmlns:a="http://schemas.openxmlformats.org/drawingml/2006/main" w="9525">
            <a:solidFill>
              <a:srgbClr val="C5D5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F511D-EF23-4865-BF44-54D40A8B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7324D"/>
                </a:solidFill>
              </a:defRPr>
            </a:defPPr>
            <a:lvl1pPr algn="ctr">
              <a:defRPr sz="1875" b="1">
                <a:solidFill>
                  <a:srgbClr val="17324D"/>
                </a:solidFill>
              </a:defRPr>
            </a:lvl1pPr>
            <a:lvl2pPr algn="ctr">
              <a:defRPr sz="1875" b="1">
                <a:solidFill>
                  <a:srgbClr val="17324D"/>
                </a:solidFill>
              </a:defRPr>
            </a:lvl2pPr>
            <a:lvl3pPr algn="ctr">
              <a:defRPr sz="1875" b="1">
                <a:solidFill>
                  <a:srgbClr val="17324D"/>
                </a:solidFill>
              </a:defRPr>
            </a:lvl3pPr>
            <a:lvl4pPr algn="ctr">
              <a:defRPr sz="1875" b="1">
                <a:solidFill>
                  <a:srgbClr val="17324D"/>
                </a:solidFill>
              </a:defRPr>
            </a:lvl4pPr>
            <a:lvl5pPr algn="ctr">
              <a:defRPr sz="1875" b="1">
                <a:solidFill>
                  <a:srgbClr val="17324D"/>
                </a:solidFill>
              </a:defRPr>
            </a:lvl5pPr>
            <a:lvl6pPr algn="ctr">
              <a:defRPr sz="1875" b="1">
                <a:solidFill>
                  <a:srgbClr val="17324D"/>
                </a:solidFill>
              </a:defRPr>
            </a:lvl6pPr>
            <a:lvl7pPr algn="ctr">
              <a:defRPr sz="1875" b="1">
                <a:solidFill>
                  <a:srgbClr val="17324D"/>
                </a:solidFill>
              </a:defRPr>
            </a:lvl7pPr>
            <a:lvl8pPr algn="ctr">
              <a:defRPr sz="1875" b="1">
                <a:solidFill>
                  <a:srgbClr val="17324D"/>
                </a:solidFill>
              </a:defRPr>
            </a:lvl8pPr>
            <a:lvl9pPr algn="ctr">
              <a:defRPr sz="18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14 routers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21 links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Fixed standard test map</a:t>
            </a:r>
          </a:p>
        </p:txBody>
      </p:sp>
    </p:spTree>
    <p:extLst>
      <p:ext uri="{BB962C8B-B14F-4D97-AF65-F5344CB8AC3E}">
        <p14:creationId xmlns:p14="http://schemas.microsoft.com/office/powerpoint/2010/main" val="1292523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A6FBB-885F-41F1-98CB-657F7CF2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What NSFNET means 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CE0F0-2F58-45C5-87CC-9517BD9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A benchmark-style topology, not a live network being simulated.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33195-5CF9-4513-BB13-371FC9FF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3F335-CDB8-4A76-99B0-7E5A94B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7D8D"/>
                </a:solidFill>
              </a:defRPr>
            </a:defPPr>
            <a:lvl1pPr algn="l">
              <a:defRPr sz="2025" b="1">
                <a:solidFill>
                  <a:srgbClr val="167D8D"/>
                </a:solidFill>
              </a:defRPr>
            </a:lvl1pPr>
            <a:lvl2pPr algn="l">
              <a:defRPr sz="2025" b="1">
                <a:solidFill>
                  <a:srgbClr val="167D8D"/>
                </a:solidFill>
              </a:defRPr>
            </a:lvl2pPr>
            <a:lvl3pPr algn="l">
              <a:defRPr sz="2025" b="1">
                <a:solidFill>
                  <a:srgbClr val="167D8D"/>
                </a:solidFill>
              </a:defRPr>
            </a:lvl3pPr>
            <a:lvl4pPr algn="l">
              <a:defRPr sz="2025" b="1">
                <a:solidFill>
                  <a:srgbClr val="167D8D"/>
                </a:solidFill>
              </a:defRPr>
            </a:lvl4pPr>
            <a:lvl5pPr algn="l">
              <a:defRPr sz="2025" b="1">
                <a:solidFill>
                  <a:srgbClr val="167D8D"/>
                </a:solidFill>
              </a:defRPr>
            </a:lvl5pPr>
            <a:lvl6pPr algn="l">
              <a:defRPr sz="2025" b="1">
                <a:solidFill>
                  <a:srgbClr val="167D8D"/>
                </a:solidFill>
              </a:defRPr>
            </a:lvl6pPr>
            <a:lvl7pPr algn="l">
              <a:defRPr sz="2025" b="1">
                <a:solidFill>
                  <a:srgbClr val="167D8D"/>
                </a:solidFill>
              </a:defRPr>
            </a:lvl7pPr>
            <a:lvl8pPr algn="l">
              <a:defRPr sz="2025" b="1">
                <a:solidFill>
                  <a:srgbClr val="167D8D"/>
                </a:solidFill>
              </a:defRPr>
            </a:lvl8pPr>
            <a:lvl9pPr algn="l">
              <a:defRPr sz="20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7D8D"/>
                </a:solidFill>
              </a:defRPr>
            </a:pPr>
            <a:r>
              <a:rPr sz="2025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95B8E-4A55-4448-9A2F-3C9842A5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668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92A3A"/>
                </a:solidFill>
              </a:defRPr>
            </a:defPPr>
            <a:lvl1pPr algn="l">
              <a:defRPr sz="1800" b="0">
                <a:solidFill>
                  <a:srgbClr val="192A3A"/>
                </a:solidFill>
              </a:defRPr>
            </a:lvl1pPr>
            <a:lvl2pPr algn="l">
              <a:defRPr sz="1800" b="0">
                <a:solidFill>
                  <a:srgbClr val="192A3A"/>
                </a:solidFill>
              </a:defRPr>
            </a:lvl2pPr>
            <a:lvl3pPr algn="l">
              <a:defRPr sz="1800" b="0">
                <a:solidFill>
                  <a:srgbClr val="192A3A"/>
                </a:solidFill>
              </a:defRPr>
            </a:lvl3pPr>
            <a:lvl4pPr algn="l">
              <a:defRPr sz="1800" b="0">
                <a:solidFill>
                  <a:srgbClr val="192A3A"/>
                </a:solidFill>
              </a:defRPr>
            </a:lvl4pPr>
            <a:lvl5pPr algn="l">
              <a:defRPr sz="1800" b="0">
                <a:solidFill>
                  <a:srgbClr val="192A3A"/>
                </a:solidFill>
              </a:defRPr>
            </a:lvl5pPr>
            <a:lvl6pPr algn="l">
              <a:defRPr sz="1800" b="0">
                <a:solidFill>
                  <a:srgbClr val="192A3A"/>
                </a:solidFill>
              </a:defRPr>
            </a:lvl6pPr>
            <a:lvl7pPr algn="l">
              <a:defRPr sz="1800" b="0">
                <a:solidFill>
                  <a:srgbClr val="192A3A"/>
                </a:solidFill>
              </a:defRPr>
            </a:lvl7pPr>
            <a:lvl8pPr algn="l">
              <a:defRPr sz="1800" b="0">
                <a:solidFill>
                  <a:srgbClr val="192A3A"/>
                </a:solidFill>
              </a:defRPr>
            </a:lvl8pPr>
            <a:lvl9pPr algn="l">
              <a:defRPr sz="18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A3A"/>
                </a:solidFill>
              </a:defRPr>
            </a:pPr>
            <a:r>
              <a:rPr sz="1800" b="0">
                <a:solidFill>
                  <a:srgbClr val="192A3A"/>
                </a:solidFill>
              </a:rPr>
              <a:t>The code builds 14 numbered nodes and 21 fixed undirected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CA05B-4D26-4AB2-AD18-9E810394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7D8D"/>
                </a:solidFill>
              </a:defRPr>
            </a:defPPr>
            <a:lvl1pPr algn="l">
              <a:defRPr sz="2025" b="1">
                <a:solidFill>
                  <a:srgbClr val="167D8D"/>
                </a:solidFill>
              </a:defRPr>
            </a:lvl1pPr>
            <a:lvl2pPr algn="l">
              <a:defRPr sz="2025" b="1">
                <a:solidFill>
                  <a:srgbClr val="167D8D"/>
                </a:solidFill>
              </a:defRPr>
            </a:lvl2pPr>
            <a:lvl3pPr algn="l">
              <a:defRPr sz="2025" b="1">
                <a:solidFill>
                  <a:srgbClr val="167D8D"/>
                </a:solidFill>
              </a:defRPr>
            </a:lvl3pPr>
            <a:lvl4pPr algn="l">
              <a:defRPr sz="2025" b="1">
                <a:solidFill>
                  <a:srgbClr val="167D8D"/>
                </a:solidFill>
              </a:defRPr>
            </a:lvl4pPr>
            <a:lvl5pPr algn="l">
              <a:defRPr sz="2025" b="1">
                <a:solidFill>
                  <a:srgbClr val="167D8D"/>
                </a:solidFill>
              </a:defRPr>
            </a:lvl5pPr>
            <a:lvl6pPr algn="l">
              <a:defRPr sz="2025" b="1">
                <a:solidFill>
                  <a:srgbClr val="167D8D"/>
                </a:solidFill>
              </a:defRPr>
            </a:lvl6pPr>
            <a:lvl7pPr algn="l">
              <a:defRPr sz="2025" b="1">
                <a:solidFill>
                  <a:srgbClr val="167D8D"/>
                </a:solidFill>
              </a:defRPr>
            </a:lvl7pPr>
            <a:lvl8pPr algn="l">
              <a:defRPr sz="2025" b="1">
                <a:solidFill>
                  <a:srgbClr val="167D8D"/>
                </a:solidFill>
              </a:defRPr>
            </a:lvl8pPr>
            <a:lvl9pPr algn="l">
              <a:defRPr sz="20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7D8D"/>
                </a:solidFill>
              </a:defRPr>
            </a:pPr>
            <a:r>
              <a:rPr sz="2025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F136F-872A-4C84-9068-BD7BB7C1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92A3A"/>
                </a:solidFill>
              </a:defRPr>
            </a:defPPr>
            <a:lvl1pPr algn="l">
              <a:defRPr sz="1800" b="0">
                <a:solidFill>
                  <a:srgbClr val="192A3A"/>
                </a:solidFill>
              </a:defRPr>
            </a:lvl1pPr>
            <a:lvl2pPr algn="l">
              <a:defRPr sz="1800" b="0">
                <a:solidFill>
                  <a:srgbClr val="192A3A"/>
                </a:solidFill>
              </a:defRPr>
            </a:lvl2pPr>
            <a:lvl3pPr algn="l">
              <a:defRPr sz="1800" b="0">
                <a:solidFill>
                  <a:srgbClr val="192A3A"/>
                </a:solidFill>
              </a:defRPr>
            </a:lvl3pPr>
            <a:lvl4pPr algn="l">
              <a:defRPr sz="1800" b="0">
                <a:solidFill>
                  <a:srgbClr val="192A3A"/>
                </a:solidFill>
              </a:defRPr>
            </a:lvl4pPr>
            <a:lvl5pPr algn="l">
              <a:defRPr sz="1800" b="0">
                <a:solidFill>
                  <a:srgbClr val="192A3A"/>
                </a:solidFill>
              </a:defRPr>
            </a:lvl5pPr>
            <a:lvl6pPr algn="l">
              <a:defRPr sz="1800" b="0">
                <a:solidFill>
                  <a:srgbClr val="192A3A"/>
                </a:solidFill>
              </a:defRPr>
            </a:lvl6pPr>
            <a:lvl7pPr algn="l">
              <a:defRPr sz="1800" b="0">
                <a:solidFill>
                  <a:srgbClr val="192A3A"/>
                </a:solidFill>
              </a:defRPr>
            </a:lvl7pPr>
            <a:lvl8pPr algn="l">
              <a:defRPr sz="1800" b="0">
                <a:solidFill>
                  <a:srgbClr val="192A3A"/>
                </a:solidFill>
              </a:defRPr>
            </a:lvl8pPr>
            <a:lvl9pPr algn="l">
              <a:defRPr sz="18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A3A"/>
                </a:solidFill>
              </a:defRPr>
            </a:pPr>
            <a:r>
              <a:rPr sz="1800" b="0">
                <a:solidFill>
                  <a:srgbClr val="192A3A"/>
                </a:solidFill>
              </a:rPr>
              <a:t>NSFNET is the primary experiment topology; RGG is the second map.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D4C07-B2DA-4F7C-841B-33121DB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7D8D"/>
                </a:solidFill>
              </a:defRPr>
            </a:defPPr>
            <a:lvl1pPr algn="l">
              <a:defRPr sz="2025" b="1">
                <a:solidFill>
                  <a:srgbClr val="167D8D"/>
                </a:solidFill>
              </a:defRPr>
            </a:lvl1pPr>
            <a:lvl2pPr algn="l">
              <a:defRPr sz="2025" b="1">
                <a:solidFill>
                  <a:srgbClr val="167D8D"/>
                </a:solidFill>
              </a:defRPr>
            </a:lvl2pPr>
            <a:lvl3pPr algn="l">
              <a:defRPr sz="2025" b="1">
                <a:solidFill>
                  <a:srgbClr val="167D8D"/>
                </a:solidFill>
              </a:defRPr>
            </a:lvl3pPr>
            <a:lvl4pPr algn="l">
              <a:defRPr sz="2025" b="1">
                <a:solidFill>
                  <a:srgbClr val="167D8D"/>
                </a:solidFill>
              </a:defRPr>
            </a:lvl4pPr>
            <a:lvl5pPr algn="l">
              <a:defRPr sz="2025" b="1">
                <a:solidFill>
                  <a:srgbClr val="167D8D"/>
                </a:solidFill>
              </a:defRPr>
            </a:lvl5pPr>
            <a:lvl6pPr algn="l">
              <a:defRPr sz="2025" b="1">
                <a:solidFill>
                  <a:srgbClr val="167D8D"/>
                </a:solidFill>
              </a:defRPr>
            </a:lvl6pPr>
            <a:lvl7pPr algn="l">
              <a:defRPr sz="2025" b="1">
                <a:solidFill>
                  <a:srgbClr val="167D8D"/>
                </a:solidFill>
              </a:defRPr>
            </a:lvl7pPr>
            <a:lvl8pPr algn="l">
              <a:defRPr sz="2025" b="1">
                <a:solidFill>
                  <a:srgbClr val="167D8D"/>
                </a:solidFill>
              </a:defRPr>
            </a:lvl8pPr>
            <a:lvl9pPr algn="l">
              <a:defRPr sz="20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7D8D"/>
                </a:solidFill>
              </a:defRPr>
            </a:pPr>
            <a:r>
              <a:rPr sz="2025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5B15F-C0CE-4095-98CA-864C8D2C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718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92A3A"/>
                </a:solidFill>
              </a:defRPr>
            </a:defPPr>
            <a:lvl1pPr algn="l">
              <a:defRPr sz="1800" b="0">
                <a:solidFill>
                  <a:srgbClr val="192A3A"/>
                </a:solidFill>
              </a:defRPr>
            </a:lvl1pPr>
            <a:lvl2pPr algn="l">
              <a:defRPr sz="1800" b="0">
                <a:solidFill>
                  <a:srgbClr val="192A3A"/>
                </a:solidFill>
              </a:defRPr>
            </a:lvl2pPr>
            <a:lvl3pPr algn="l">
              <a:defRPr sz="1800" b="0">
                <a:solidFill>
                  <a:srgbClr val="192A3A"/>
                </a:solidFill>
              </a:defRPr>
            </a:lvl3pPr>
            <a:lvl4pPr algn="l">
              <a:defRPr sz="1800" b="0">
                <a:solidFill>
                  <a:srgbClr val="192A3A"/>
                </a:solidFill>
              </a:defRPr>
            </a:lvl4pPr>
            <a:lvl5pPr algn="l">
              <a:defRPr sz="1800" b="0">
                <a:solidFill>
                  <a:srgbClr val="192A3A"/>
                </a:solidFill>
              </a:defRPr>
            </a:lvl5pPr>
            <a:lvl6pPr algn="l">
              <a:defRPr sz="1800" b="0">
                <a:solidFill>
                  <a:srgbClr val="192A3A"/>
                </a:solidFill>
              </a:defRPr>
            </a:lvl6pPr>
            <a:lvl7pPr algn="l">
              <a:defRPr sz="1800" b="0">
                <a:solidFill>
                  <a:srgbClr val="192A3A"/>
                </a:solidFill>
              </a:defRPr>
            </a:lvl7pPr>
            <a:lvl8pPr algn="l">
              <a:defRPr sz="1800" b="0">
                <a:solidFill>
                  <a:srgbClr val="192A3A"/>
                </a:solidFill>
              </a:defRPr>
            </a:lvl8pPr>
            <a:lvl9pPr algn="l">
              <a:defRPr sz="18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A3A"/>
                </a:solidFill>
              </a:defRPr>
            </a:pPr>
            <a:r>
              <a:rPr sz="1800" b="0">
                <a:solidFill>
                  <a:srgbClr val="192A3A"/>
                </a:solidFill>
              </a:rPr>
              <a:t>The project creates its own traffic, link delays, and failure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E52CE-3E51-4BBB-93FE-7241D409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67D8D"/>
                </a:solidFill>
              </a:defRPr>
            </a:defPPr>
            <a:lvl1pPr algn="l">
              <a:defRPr sz="2025" b="1">
                <a:solidFill>
                  <a:srgbClr val="167D8D"/>
                </a:solidFill>
              </a:defRPr>
            </a:lvl1pPr>
            <a:lvl2pPr algn="l">
              <a:defRPr sz="2025" b="1">
                <a:solidFill>
                  <a:srgbClr val="167D8D"/>
                </a:solidFill>
              </a:defRPr>
            </a:lvl2pPr>
            <a:lvl3pPr algn="l">
              <a:defRPr sz="2025" b="1">
                <a:solidFill>
                  <a:srgbClr val="167D8D"/>
                </a:solidFill>
              </a:defRPr>
            </a:lvl3pPr>
            <a:lvl4pPr algn="l">
              <a:defRPr sz="2025" b="1">
                <a:solidFill>
                  <a:srgbClr val="167D8D"/>
                </a:solidFill>
              </a:defRPr>
            </a:lvl4pPr>
            <a:lvl5pPr algn="l">
              <a:defRPr sz="2025" b="1">
                <a:solidFill>
                  <a:srgbClr val="167D8D"/>
                </a:solidFill>
              </a:defRPr>
            </a:lvl5pPr>
            <a:lvl6pPr algn="l">
              <a:defRPr sz="2025" b="1">
                <a:solidFill>
                  <a:srgbClr val="167D8D"/>
                </a:solidFill>
              </a:defRPr>
            </a:lvl6pPr>
            <a:lvl7pPr algn="l">
              <a:defRPr sz="2025" b="1">
                <a:solidFill>
                  <a:srgbClr val="167D8D"/>
                </a:solidFill>
              </a:defRPr>
            </a:lvl7pPr>
            <a:lvl8pPr algn="l">
              <a:defRPr sz="2025" b="1">
                <a:solidFill>
                  <a:srgbClr val="167D8D"/>
                </a:solidFill>
              </a:defRPr>
            </a:lvl8pPr>
            <a:lvl9pPr algn="l">
              <a:defRPr sz="20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7D8D"/>
                </a:solidFill>
              </a:defRPr>
            </a:pPr>
            <a:r>
              <a:rPr sz="2025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68E34-CA48-4685-AB87-3C50ACFF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10077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92A3A"/>
                </a:solidFill>
              </a:defRPr>
            </a:defPPr>
            <a:lvl1pPr algn="l">
              <a:defRPr sz="1800" b="0">
                <a:solidFill>
                  <a:srgbClr val="192A3A"/>
                </a:solidFill>
              </a:defRPr>
            </a:lvl1pPr>
            <a:lvl2pPr algn="l">
              <a:defRPr sz="1800" b="0">
                <a:solidFill>
                  <a:srgbClr val="192A3A"/>
                </a:solidFill>
              </a:defRPr>
            </a:lvl2pPr>
            <a:lvl3pPr algn="l">
              <a:defRPr sz="1800" b="0">
                <a:solidFill>
                  <a:srgbClr val="192A3A"/>
                </a:solidFill>
              </a:defRPr>
            </a:lvl3pPr>
            <a:lvl4pPr algn="l">
              <a:defRPr sz="1800" b="0">
                <a:solidFill>
                  <a:srgbClr val="192A3A"/>
                </a:solidFill>
              </a:defRPr>
            </a:lvl4pPr>
            <a:lvl5pPr algn="l">
              <a:defRPr sz="1800" b="0">
                <a:solidFill>
                  <a:srgbClr val="192A3A"/>
                </a:solidFill>
              </a:defRPr>
            </a:lvl5pPr>
            <a:lvl6pPr algn="l">
              <a:defRPr sz="1800" b="0">
                <a:solidFill>
                  <a:srgbClr val="192A3A"/>
                </a:solidFill>
              </a:defRPr>
            </a:lvl6pPr>
            <a:lvl7pPr algn="l">
              <a:defRPr sz="1800" b="0">
                <a:solidFill>
                  <a:srgbClr val="192A3A"/>
                </a:solidFill>
              </a:defRPr>
            </a:lvl7pPr>
            <a:lvl8pPr algn="l">
              <a:defRPr sz="1800" b="0">
                <a:solidFill>
                  <a:srgbClr val="192A3A"/>
                </a:solidFill>
              </a:defRPr>
            </a:lvl8pPr>
            <a:lvl9pPr algn="l">
              <a:defRPr sz="18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A3A"/>
                </a:solidFill>
              </a:defRPr>
            </a:pPr>
            <a:r>
              <a:rPr sz="1800" b="0">
                <a:solidFill>
                  <a:srgbClr val="192A3A"/>
                </a:solidFill>
              </a:rPr>
              <a:t>Graph: presto/sim/topology.py  •  Settings: configs/topo/nsfnet.yaml</a:t>
            </a:r>
          </a:p>
        </p:txBody>
      </p:sp>
    </p:spTree>
    <p:extLst>
      <p:ext uri="{BB962C8B-B14F-4D97-AF65-F5344CB8AC3E}">
        <p14:creationId xmlns:p14="http://schemas.microsoft.com/office/powerpoint/2010/main" val="2055044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7E421-C634-4F68-A827-BBDEB786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How PRESTO-R decides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463B9-4F3F-4722-960C-54476B74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The same loop repeats each simulation 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24878-2D53-45A2-BF0B-34113215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0D3B4-053B-4FD7-B780-7B5F0B4F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EF4"/>
          </a:solidFill>
          <a:ln xmlns:a="http://schemas.openxmlformats.org/drawingml/2006/main" w="9525">
            <a:solidFill>
              <a:srgbClr val="C4D4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30F1C-8557-46EC-BBBB-C54018C3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67D8D"/>
                </a:solidFill>
              </a:defRPr>
            </a:defPPr>
            <a:lvl1pPr algn="ctr">
              <a:defRPr sz="1350" b="1">
                <a:solidFill>
                  <a:srgbClr val="167D8D"/>
                </a:solidFill>
              </a:defRPr>
            </a:lvl1pPr>
            <a:lvl2pPr algn="ctr">
              <a:defRPr sz="1350" b="1">
                <a:solidFill>
                  <a:srgbClr val="167D8D"/>
                </a:solidFill>
              </a:defRPr>
            </a:lvl2pPr>
            <a:lvl3pPr algn="ctr">
              <a:defRPr sz="1350" b="1">
                <a:solidFill>
                  <a:srgbClr val="167D8D"/>
                </a:solidFill>
              </a:defRPr>
            </a:lvl3pPr>
            <a:lvl4pPr algn="ctr">
              <a:defRPr sz="1350" b="1">
                <a:solidFill>
                  <a:srgbClr val="167D8D"/>
                </a:solidFill>
              </a:defRPr>
            </a:lvl4pPr>
            <a:lvl5pPr algn="ctr">
              <a:defRPr sz="1350" b="1">
                <a:solidFill>
                  <a:srgbClr val="167D8D"/>
                </a:solidFill>
              </a:defRPr>
            </a:lvl5pPr>
            <a:lvl6pPr algn="ctr">
              <a:defRPr sz="1350" b="1">
                <a:solidFill>
                  <a:srgbClr val="167D8D"/>
                </a:solidFill>
              </a:defRPr>
            </a:lvl6pPr>
            <a:lvl7pPr algn="ctr">
              <a:defRPr sz="1350" b="1">
                <a:solidFill>
                  <a:srgbClr val="167D8D"/>
                </a:solidFill>
              </a:defRPr>
            </a:lvl7pPr>
            <a:lvl8pPr algn="ctr">
              <a:defRPr sz="1350" b="1">
                <a:solidFill>
                  <a:srgbClr val="167D8D"/>
                </a:solidFill>
              </a:defRPr>
            </a:lvl8pPr>
            <a:lvl9pPr algn="ctr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1  SIMULATE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FB319-0A4E-4DD9-B5C7-511BB5A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92A3A"/>
                </a:solidFill>
              </a:defRPr>
            </a:defPPr>
            <a:lvl1pPr algn="ctr">
              <a:defRPr sz="1350" b="0">
                <a:solidFill>
                  <a:srgbClr val="192A3A"/>
                </a:solidFill>
              </a:defRPr>
            </a:lvl1pPr>
            <a:lvl2pPr algn="ctr">
              <a:defRPr sz="1350" b="0">
                <a:solidFill>
                  <a:srgbClr val="192A3A"/>
                </a:solidFill>
              </a:defRPr>
            </a:lvl2pPr>
            <a:lvl3pPr algn="ctr">
              <a:defRPr sz="1350" b="0">
                <a:solidFill>
                  <a:srgbClr val="192A3A"/>
                </a:solidFill>
              </a:defRPr>
            </a:lvl3pPr>
            <a:lvl4pPr algn="ctr">
              <a:defRPr sz="1350" b="0">
                <a:solidFill>
                  <a:srgbClr val="192A3A"/>
                </a:solidFill>
              </a:defRPr>
            </a:lvl4pPr>
            <a:lvl5pPr algn="ctr">
              <a:defRPr sz="1350" b="0">
                <a:solidFill>
                  <a:srgbClr val="192A3A"/>
                </a:solidFill>
              </a:defRPr>
            </a:lvl5pPr>
            <a:lvl6pPr algn="ctr">
              <a:defRPr sz="1350" b="0">
                <a:solidFill>
                  <a:srgbClr val="192A3A"/>
                </a:solidFill>
              </a:defRPr>
            </a:lvl6pPr>
            <a:lvl7pPr algn="ctr">
              <a:defRPr sz="1350" b="0">
                <a:solidFill>
                  <a:srgbClr val="192A3A"/>
                </a:solidFill>
              </a:defRPr>
            </a:lvl7pPr>
            <a:lvl8pPr algn="ctr">
              <a:defRPr sz="1350" b="0">
                <a:solidFill>
                  <a:srgbClr val="192A3A"/>
                </a:solidFill>
              </a:defRPr>
            </a:lvl8pPr>
            <a:lvl9pPr algn="ctr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traffic +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5521F-0C32-4813-A588-2487AD0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30480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A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ED8FF-6708-485B-B2AB-24D39FE9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EF4"/>
          </a:solidFill>
          <a:ln xmlns:a="http://schemas.openxmlformats.org/drawingml/2006/main" w="9525">
            <a:solidFill>
              <a:srgbClr val="C4D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9D749-93B3-4BB3-8E69-581CCA59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67D8D"/>
                </a:solidFill>
              </a:defRPr>
            </a:defPPr>
            <a:lvl1pPr algn="ctr">
              <a:defRPr sz="1350" b="1">
                <a:solidFill>
                  <a:srgbClr val="167D8D"/>
                </a:solidFill>
              </a:defRPr>
            </a:lvl1pPr>
            <a:lvl2pPr algn="ctr">
              <a:defRPr sz="1350" b="1">
                <a:solidFill>
                  <a:srgbClr val="167D8D"/>
                </a:solidFill>
              </a:defRPr>
            </a:lvl2pPr>
            <a:lvl3pPr algn="ctr">
              <a:defRPr sz="1350" b="1">
                <a:solidFill>
                  <a:srgbClr val="167D8D"/>
                </a:solidFill>
              </a:defRPr>
            </a:lvl3pPr>
            <a:lvl4pPr algn="ctr">
              <a:defRPr sz="1350" b="1">
                <a:solidFill>
                  <a:srgbClr val="167D8D"/>
                </a:solidFill>
              </a:defRPr>
            </a:lvl4pPr>
            <a:lvl5pPr algn="ctr">
              <a:defRPr sz="1350" b="1">
                <a:solidFill>
                  <a:srgbClr val="167D8D"/>
                </a:solidFill>
              </a:defRPr>
            </a:lvl5pPr>
            <a:lvl6pPr algn="ctr">
              <a:defRPr sz="1350" b="1">
                <a:solidFill>
                  <a:srgbClr val="167D8D"/>
                </a:solidFill>
              </a:defRPr>
            </a:lvl6pPr>
            <a:lvl7pPr algn="ctr">
              <a:defRPr sz="1350" b="1">
                <a:solidFill>
                  <a:srgbClr val="167D8D"/>
                </a:solidFill>
              </a:defRPr>
            </a:lvl7pPr>
            <a:lvl8pPr algn="ctr">
              <a:defRPr sz="1350" b="1">
                <a:solidFill>
                  <a:srgbClr val="167D8D"/>
                </a:solidFill>
              </a:defRPr>
            </a:lvl8pPr>
            <a:lvl9pPr algn="ctr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2  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F1B6F-0B81-4805-AD68-2FB1505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92A3A"/>
                </a:solidFill>
              </a:defRPr>
            </a:defPPr>
            <a:lvl1pPr algn="ctr">
              <a:defRPr sz="1350" b="0">
                <a:solidFill>
                  <a:srgbClr val="192A3A"/>
                </a:solidFill>
              </a:defRPr>
            </a:lvl1pPr>
            <a:lvl2pPr algn="ctr">
              <a:defRPr sz="1350" b="0">
                <a:solidFill>
                  <a:srgbClr val="192A3A"/>
                </a:solidFill>
              </a:defRPr>
            </a:lvl2pPr>
            <a:lvl3pPr algn="ctr">
              <a:defRPr sz="1350" b="0">
                <a:solidFill>
                  <a:srgbClr val="192A3A"/>
                </a:solidFill>
              </a:defRPr>
            </a:lvl3pPr>
            <a:lvl4pPr algn="ctr">
              <a:defRPr sz="1350" b="0">
                <a:solidFill>
                  <a:srgbClr val="192A3A"/>
                </a:solidFill>
              </a:defRPr>
            </a:lvl4pPr>
            <a:lvl5pPr algn="ctr">
              <a:defRPr sz="1350" b="0">
                <a:solidFill>
                  <a:srgbClr val="192A3A"/>
                </a:solidFill>
              </a:defRPr>
            </a:lvl5pPr>
            <a:lvl6pPr algn="ctr">
              <a:defRPr sz="1350" b="0">
                <a:solidFill>
                  <a:srgbClr val="192A3A"/>
                </a:solidFill>
              </a:defRPr>
            </a:lvl6pPr>
            <a:lvl7pPr algn="ctr">
              <a:defRPr sz="1350" b="0">
                <a:solidFill>
                  <a:srgbClr val="192A3A"/>
                </a:solidFill>
              </a:defRPr>
            </a:lvl7pPr>
            <a:lvl8pPr algn="ctr">
              <a:defRPr sz="1350" b="0">
                <a:solidFill>
                  <a:srgbClr val="192A3A"/>
                </a:solidFill>
              </a:defRPr>
            </a:lvl8pPr>
            <a:lvl9pPr algn="ctr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noisy measurements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B937B-9AB0-4C22-8F2F-703C0484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0480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A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18A56-AB65-41E1-8DB3-9C86B1DB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EF4"/>
          </a:solidFill>
          <a:ln xmlns:a="http://schemas.openxmlformats.org/drawingml/2006/main" w="9525">
            <a:solidFill>
              <a:srgbClr val="C4D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4C175-ECE3-47EB-A1B5-22A944BF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47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67D8D"/>
                </a:solidFill>
              </a:defRPr>
            </a:defPPr>
            <a:lvl1pPr algn="ctr">
              <a:defRPr sz="1350" b="1">
                <a:solidFill>
                  <a:srgbClr val="167D8D"/>
                </a:solidFill>
              </a:defRPr>
            </a:lvl1pPr>
            <a:lvl2pPr algn="ctr">
              <a:defRPr sz="1350" b="1">
                <a:solidFill>
                  <a:srgbClr val="167D8D"/>
                </a:solidFill>
              </a:defRPr>
            </a:lvl2pPr>
            <a:lvl3pPr algn="ctr">
              <a:defRPr sz="1350" b="1">
                <a:solidFill>
                  <a:srgbClr val="167D8D"/>
                </a:solidFill>
              </a:defRPr>
            </a:lvl3pPr>
            <a:lvl4pPr algn="ctr">
              <a:defRPr sz="1350" b="1">
                <a:solidFill>
                  <a:srgbClr val="167D8D"/>
                </a:solidFill>
              </a:defRPr>
            </a:lvl4pPr>
            <a:lvl5pPr algn="ctr">
              <a:defRPr sz="1350" b="1">
                <a:solidFill>
                  <a:srgbClr val="167D8D"/>
                </a:solidFill>
              </a:defRPr>
            </a:lvl5pPr>
            <a:lvl6pPr algn="ctr">
              <a:defRPr sz="1350" b="1">
                <a:solidFill>
                  <a:srgbClr val="167D8D"/>
                </a:solidFill>
              </a:defRPr>
            </a:lvl6pPr>
            <a:lvl7pPr algn="ctr">
              <a:defRPr sz="1350" b="1">
                <a:solidFill>
                  <a:srgbClr val="167D8D"/>
                </a:solidFill>
              </a:defRPr>
            </a:lvl7pPr>
            <a:lvl8pPr algn="ctr">
              <a:defRPr sz="1350" b="1">
                <a:solidFill>
                  <a:srgbClr val="167D8D"/>
                </a:solidFill>
              </a:defRPr>
            </a:lvl8pPr>
            <a:lvl9pPr algn="ctr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3  PREDICT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70946-ABF4-4DE4-97A5-46E46211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92A3A"/>
                </a:solidFill>
              </a:defRPr>
            </a:defPPr>
            <a:lvl1pPr algn="ctr">
              <a:defRPr sz="1350" b="0">
                <a:solidFill>
                  <a:srgbClr val="192A3A"/>
                </a:solidFill>
              </a:defRPr>
            </a:lvl1pPr>
            <a:lvl2pPr algn="ctr">
              <a:defRPr sz="1350" b="0">
                <a:solidFill>
                  <a:srgbClr val="192A3A"/>
                </a:solidFill>
              </a:defRPr>
            </a:lvl2pPr>
            <a:lvl3pPr algn="ctr">
              <a:defRPr sz="1350" b="0">
                <a:solidFill>
                  <a:srgbClr val="192A3A"/>
                </a:solidFill>
              </a:defRPr>
            </a:lvl3pPr>
            <a:lvl4pPr algn="ctr">
              <a:defRPr sz="1350" b="0">
                <a:solidFill>
                  <a:srgbClr val="192A3A"/>
                </a:solidFill>
              </a:defRPr>
            </a:lvl4pPr>
            <a:lvl5pPr algn="ctr">
              <a:defRPr sz="1350" b="0">
                <a:solidFill>
                  <a:srgbClr val="192A3A"/>
                </a:solidFill>
              </a:defRPr>
            </a:lvl5pPr>
            <a:lvl6pPr algn="ctr">
              <a:defRPr sz="1350" b="0">
                <a:solidFill>
                  <a:srgbClr val="192A3A"/>
                </a:solidFill>
              </a:defRPr>
            </a:lvl6pPr>
            <a:lvl7pPr algn="ctr">
              <a:defRPr sz="1350" b="0">
                <a:solidFill>
                  <a:srgbClr val="192A3A"/>
                </a:solidFill>
              </a:defRPr>
            </a:lvl7pPr>
            <a:lvl8pPr algn="ctr">
              <a:defRPr sz="1350" b="0">
                <a:solidFill>
                  <a:srgbClr val="192A3A"/>
                </a:solidFill>
              </a:defRPr>
            </a:lvl8pPr>
            <a:lvl9pPr algn="ctr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link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EF7F1-3968-480D-9C2E-C33EEF00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0480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A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36D30-FC3B-4DF8-BB30-6BC78576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336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320D7-3E3B-4D68-8739-9E40A80D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47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  CHOOSE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7EF2C-4653-42D2-AEB0-FE248DDA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527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</a:defRPr>
            </a:defPPr>
            <a:lvl1pPr algn="ctr">
              <a:defRPr sz="1350" b="0">
                <a:solidFill>
                  <a:srgbClr val="FFFFFF"/>
                </a:solidFill>
              </a:defRPr>
            </a:lvl1pPr>
            <a:lvl2pPr algn="ctr">
              <a:defRPr sz="1350" b="0">
                <a:solidFill>
                  <a:srgbClr val="FFFFFF"/>
                </a:solidFill>
              </a:defRPr>
            </a:lvl2pPr>
            <a:lvl3pPr algn="ctr">
              <a:defRPr sz="1350" b="0">
                <a:solidFill>
                  <a:srgbClr val="FFFFFF"/>
                </a:solidFill>
              </a:defRPr>
            </a:lvl3pPr>
            <a:lvl4pPr algn="ctr">
              <a:defRPr sz="1350" b="0">
                <a:solidFill>
                  <a:srgbClr val="FFFFFF"/>
                </a:solidFill>
              </a:defRPr>
            </a:lvl4pPr>
            <a:lvl5pPr algn="ctr">
              <a:defRPr sz="1350" b="0">
                <a:solidFill>
                  <a:srgbClr val="FFFFFF"/>
                </a:solidFill>
              </a:defRPr>
            </a:lvl5pPr>
            <a:lvl6pPr algn="ctr">
              <a:defRPr sz="1350" b="0">
                <a:solidFill>
                  <a:srgbClr val="FFFFFF"/>
                </a:solidFill>
              </a:defRPr>
            </a:lvl6pPr>
            <a:lvl7pPr algn="ctr">
              <a:defRPr sz="1350" b="0">
                <a:solidFill>
                  <a:srgbClr val="FFFFFF"/>
                </a:solidFill>
              </a:defRPr>
            </a:lvl7pPr>
            <a:lvl8pPr algn="ctr">
              <a:defRPr sz="1350" b="0">
                <a:solidFill>
                  <a:srgbClr val="FFFFFF"/>
                </a:solidFill>
              </a:defRPr>
            </a:lvl8pPr>
            <a:lvl9pPr algn="ctr"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one of 4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5341F-6E14-499E-9028-70261EB4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3048000"/>
            <a:ext cx="219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A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401A3-90D7-4742-8A2D-6E9B7DF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3362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EF4"/>
          </a:solidFill>
          <a:ln xmlns:a="http://schemas.openxmlformats.org/drawingml/2006/main" w="9525">
            <a:solidFill>
              <a:srgbClr val="C4D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B6B74-2983-468E-9499-57DC6DAB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479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67D8D"/>
                </a:solidFill>
              </a:defRPr>
            </a:defPPr>
            <a:lvl1pPr algn="ctr">
              <a:defRPr sz="1350" b="1">
                <a:solidFill>
                  <a:srgbClr val="167D8D"/>
                </a:solidFill>
              </a:defRPr>
            </a:lvl1pPr>
            <a:lvl2pPr algn="ctr">
              <a:defRPr sz="1350" b="1">
                <a:solidFill>
                  <a:srgbClr val="167D8D"/>
                </a:solidFill>
              </a:defRPr>
            </a:lvl2pPr>
            <a:lvl3pPr algn="ctr">
              <a:defRPr sz="1350" b="1">
                <a:solidFill>
                  <a:srgbClr val="167D8D"/>
                </a:solidFill>
              </a:defRPr>
            </a:lvl3pPr>
            <a:lvl4pPr algn="ctr">
              <a:defRPr sz="1350" b="1">
                <a:solidFill>
                  <a:srgbClr val="167D8D"/>
                </a:solidFill>
              </a:defRPr>
            </a:lvl4pPr>
            <a:lvl5pPr algn="ctr">
              <a:defRPr sz="1350" b="1">
                <a:solidFill>
                  <a:srgbClr val="167D8D"/>
                </a:solidFill>
              </a:defRPr>
            </a:lvl5pPr>
            <a:lvl6pPr algn="ctr">
              <a:defRPr sz="1350" b="1">
                <a:solidFill>
                  <a:srgbClr val="167D8D"/>
                </a:solidFill>
              </a:defRPr>
            </a:lvl6pPr>
            <a:lvl7pPr algn="ctr">
              <a:defRPr sz="1350" b="1">
                <a:solidFill>
                  <a:srgbClr val="167D8D"/>
                </a:solidFill>
              </a:defRPr>
            </a:lvl7pPr>
            <a:lvl8pPr algn="ctr">
              <a:defRPr sz="1350" b="1">
                <a:solidFill>
                  <a:srgbClr val="167D8D"/>
                </a:solidFill>
              </a:defRPr>
            </a:lvl8pPr>
            <a:lvl9pPr algn="ctr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5 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C48B8-92C6-41DC-8771-6AC3ACB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192A3A"/>
                </a:solidFill>
              </a:defRPr>
            </a:defPPr>
            <a:lvl1pPr algn="ctr">
              <a:defRPr sz="1350" b="0">
                <a:solidFill>
                  <a:srgbClr val="192A3A"/>
                </a:solidFill>
              </a:defRPr>
            </a:lvl1pPr>
            <a:lvl2pPr algn="ctr">
              <a:defRPr sz="1350" b="0">
                <a:solidFill>
                  <a:srgbClr val="192A3A"/>
                </a:solidFill>
              </a:defRPr>
            </a:lvl2pPr>
            <a:lvl3pPr algn="ctr">
              <a:defRPr sz="1350" b="0">
                <a:solidFill>
                  <a:srgbClr val="192A3A"/>
                </a:solidFill>
              </a:defRPr>
            </a:lvl3pPr>
            <a:lvl4pPr algn="ctr">
              <a:defRPr sz="1350" b="0">
                <a:solidFill>
                  <a:srgbClr val="192A3A"/>
                </a:solidFill>
              </a:defRPr>
            </a:lvl4pPr>
            <a:lvl5pPr algn="ctr">
              <a:defRPr sz="1350" b="0">
                <a:solidFill>
                  <a:srgbClr val="192A3A"/>
                </a:solidFill>
              </a:defRPr>
            </a:lvl5pPr>
            <a:lvl6pPr algn="ctr">
              <a:defRPr sz="1350" b="0">
                <a:solidFill>
                  <a:srgbClr val="192A3A"/>
                </a:solidFill>
              </a:defRPr>
            </a:lvl6pPr>
            <a:lvl7pPr algn="ctr">
              <a:defRPr sz="1350" b="0">
                <a:solidFill>
                  <a:srgbClr val="192A3A"/>
                </a:solidFill>
              </a:defRPr>
            </a:lvl7pPr>
            <a:lvl8pPr algn="ctr">
              <a:defRPr sz="1350" b="0">
                <a:solidFill>
                  <a:srgbClr val="192A3A"/>
                </a:solidFill>
              </a:defRPr>
            </a:lvl8pPr>
            <a:lvl9pPr algn="ctr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service +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4486A-C0A1-4B62-8D00-6347A809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17324D"/>
                </a:solidFill>
              </a:defRPr>
            </a:defPPr>
            <a:lvl1pPr algn="ctr">
              <a:defRPr sz="2025" b="1">
                <a:solidFill>
                  <a:srgbClr val="17324D"/>
                </a:solidFill>
              </a:defRPr>
            </a:lvl1pPr>
            <a:lvl2pPr algn="ctr">
              <a:defRPr sz="2025" b="1">
                <a:solidFill>
                  <a:srgbClr val="17324D"/>
                </a:solidFill>
              </a:defRPr>
            </a:lvl2pPr>
            <a:lvl3pPr algn="ctr">
              <a:defRPr sz="2025" b="1">
                <a:solidFill>
                  <a:srgbClr val="17324D"/>
                </a:solidFill>
              </a:defRPr>
            </a:lvl3pPr>
            <a:lvl4pPr algn="ctr">
              <a:defRPr sz="2025" b="1">
                <a:solidFill>
                  <a:srgbClr val="17324D"/>
                </a:solidFill>
              </a:defRPr>
            </a:lvl4pPr>
            <a:lvl5pPr algn="ctr">
              <a:defRPr sz="2025" b="1">
                <a:solidFill>
                  <a:srgbClr val="17324D"/>
                </a:solidFill>
              </a:defRPr>
            </a:lvl5pPr>
            <a:lvl6pPr algn="ctr">
              <a:defRPr sz="2025" b="1">
                <a:solidFill>
                  <a:srgbClr val="17324D"/>
                </a:solidFill>
              </a:defRPr>
            </a:lvl6pPr>
            <a:lvl7pPr algn="ctr">
              <a:defRPr sz="2025" b="1">
                <a:solidFill>
                  <a:srgbClr val="17324D"/>
                </a:solidFill>
              </a:defRPr>
            </a:lvl7pPr>
            <a:lvl8pPr algn="ctr">
              <a:defRPr sz="2025" b="1">
                <a:solidFill>
                  <a:srgbClr val="17324D"/>
                </a:solidFill>
              </a:defRPr>
            </a:lvl8pPr>
            <a:lvl9pPr algn="ctr">
              <a:defRPr sz="20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1 tick = 100 ms   •   200 ticks = 20 simulated seconds</a:t>
            </a:r>
          </a:p>
        </p:txBody>
      </p:sp>
    </p:spTree>
    <p:extLst>
      <p:ext uri="{BB962C8B-B14F-4D97-AF65-F5344CB8AC3E}">
        <p14:creationId xmlns:p14="http://schemas.microsoft.com/office/powerpoint/2010/main" val="1028977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FB04D5-80A0-4D32-9981-5532C6A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Project phases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A0D4A-7777-4839-8E58-847F7A1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Phases 0–6 form the core; Phase 7 is optional.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B7968-BE68-4565-A3CC-458BD975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35FA7-CA58-481C-B921-88DF8A5C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4D26D-1160-492F-9D9F-C6F86BF6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225D5-8BBA-4966-8F5F-F441B66E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B209C-8C24-4DC9-A7DF-D83E8FD7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4975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AFC92-8FF5-4DEC-8A23-495718E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6FB51-40CE-405F-B270-A88A65E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F9B50-928B-4903-8C83-AAE8AFBB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Simulator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4E7AE-1992-471A-B5E3-8C3D108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1F1B7-6D79-4C63-A836-B3784DE4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F10C9-C57A-48ED-8D67-2A760542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FCF6D-8A46-40DE-BD67-1623C943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Predictor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C6AEC-1E20-4FEC-B988-B805F7A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617DC-1063-40E0-8063-6CC2D5EE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6C449-4C98-4AEB-8B3B-BD1CBAAD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09AE0-5C88-4829-B962-2D7543DE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Baselines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809D7-A90A-42C8-BAA9-D4174FFB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61E22-9A81-49E6-BB08-73340FDB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3EE5E-B6DB-4F88-BBF3-6BE21A95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AFE67-063B-4A9F-B645-0066CB0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PRESTO-R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38709-E161-40BA-A789-12437ACE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A711B-C3DA-4456-B2BD-0EB59AAF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7CB33-BABA-4EA8-81D4-F579081A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878A0-4E2F-4689-A643-0C44D240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Experiments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8D38B-509F-42F6-B19B-4492C484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54C63B-E982-4436-B0B9-358A2DBE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BFD4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6B2A3-509B-4E0C-BB04-DE35627C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8D"/>
                </a:solidFill>
              </a:defRPr>
            </a:defPPr>
            <a:lvl1pPr algn="ctr">
              <a:defRPr sz="1050" b="1">
                <a:solidFill>
                  <a:srgbClr val="167D8D"/>
                </a:solidFill>
              </a:defRPr>
            </a:lvl1pPr>
            <a:lvl2pPr algn="ctr">
              <a:defRPr sz="1050" b="1">
                <a:solidFill>
                  <a:srgbClr val="167D8D"/>
                </a:solidFill>
              </a:defRPr>
            </a:lvl2pPr>
            <a:lvl3pPr algn="ctr">
              <a:defRPr sz="1050" b="1">
                <a:solidFill>
                  <a:srgbClr val="167D8D"/>
                </a:solidFill>
              </a:defRPr>
            </a:lvl3pPr>
            <a:lvl4pPr algn="ctr">
              <a:defRPr sz="1050" b="1">
                <a:solidFill>
                  <a:srgbClr val="167D8D"/>
                </a:solidFill>
              </a:defRPr>
            </a:lvl4pPr>
            <a:lvl5pPr algn="ctr">
              <a:defRPr sz="1050" b="1">
                <a:solidFill>
                  <a:srgbClr val="167D8D"/>
                </a:solidFill>
              </a:defRPr>
            </a:lvl5pPr>
            <a:lvl6pPr algn="ctr">
              <a:defRPr sz="1050" b="1">
                <a:solidFill>
                  <a:srgbClr val="167D8D"/>
                </a:solidFill>
              </a:defRPr>
            </a:lvl6pPr>
            <a:lvl7pPr algn="ctr">
              <a:defRPr sz="1050" b="1">
                <a:solidFill>
                  <a:srgbClr val="167D8D"/>
                </a:solidFill>
              </a:defRPr>
            </a:lvl7pPr>
            <a:lvl8pPr algn="ctr">
              <a:defRPr sz="1050" b="1">
                <a:solidFill>
                  <a:srgbClr val="167D8D"/>
                </a:solidFill>
              </a:defRPr>
            </a:lvl8pPr>
            <a:lvl9pPr algn="ctr">
              <a:defRPr sz="10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67D8D"/>
                </a:solidFill>
              </a:defRPr>
            </a:pPr>
            <a:r>
              <a:rPr sz="1050" b="1">
                <a:solidFill>
                  <a:srgbClr val="167D8D"/>
                </a:solidFill>
              </a:rPr>
              <a:t>PHASE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D4EB26-FA99-4CA4-85FD-1FF603FD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D8019B-1869-4C5E-94E1-6117AC79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625" y="2667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2A4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ED6AF-EDE6-4D76-B0CA-1C31E19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143125"/>
            <a:ext cx="1257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E4E4"/>
          </a:solidFill>
          <a:ln xmlns:a="http://schemas.openxmlformats.org/drawingml/2006/main" w="9525">
            <a:solidFill>
              <a:srgbClr val="D8A5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88EBF-C70B-4F45-8652-BE6FF95A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57425"/>
            <a:ext cx="1123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B54848"/>
                </a:solidFill>
              </a:defRPr>
            </a:defPPr>
            <a:lvl1pPr algn="ctr">
              <a:defRPr sz="1050" b="1">
                <a:solidFill>
                  <a:srgbClr val="B54848"/>
                </a:solidFill>
              </a:defRPr>
            </a:lvl1pPr>
            <a:lvl2pPr algn="ctr">
              <a:defRPr sz="1050" b="1">
                <a:solidFill>
                  <a:srgbClr val="B54848"/>
                </a:solidFill>
              </a:defRPr>
            </a:lvl2pPr>
            <a:lvl3pPr algn="ctr">
              <a:defRPr sz="1050" b="1">
                <a:solidFill>
                  <a:srgbClr val="B54848"/>
                </a:solidFill>
              </a:defRPr>
            </a:lvl3pPr>
            <a:lvl4pPr algn="ctr">
              <a:defRPr sz="1050" b="1">
                <a:solidFill>
                  <a:srgbClr val="B54848"/>
                </a:solidFill>
              </a:defRPr>
            </a:lvl4pPr>
            <a:lvl5pPr algn="ctr">
              <a:defRPr sz="1050" b="1">
                <a:solidFill>
                  <a:srgbClr val="B54848"/>
                </a:solidFill>
              </a:defRPr>
            </a:lvl5pPr>
            <a:lvl6pPr algn="ctr">
              <a:defRPr sz="1050" b="1">
                <a:solidFill>
                  <a:srgbClr val="B54848"/>
                </a:solidFill>
              </a:defRPr>
            </a:lvl6pPr>
            <a:lvl7pPr algn="ctr">
              <a:defRPr sz="1050" b="1">
                <a:solidFill>
                  <a:srgbClr val="B54848"/>
                </a:solidFill>
              </a:defRPr>
            </a:lvl7pPr>
            <a:lvl8pPr algn="ctr">
              <a:defRPr sz="1050" b="1">
                <a:solidFill>
                  <a:srgbClr val="B54848"/>
                </a:solidFill>
              </a:defRPr>
            </a:lvl8pPr>
            <a:lvl9pPr algn="ctr">
              <a:defRPr sz="1050" b="1">
                <a:solidFill>
                  <a:srgbClr val="B54848"/>
                </a:solidFill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B54848"/>
                </a:solidFill>
              </a:defRPr>
            </a:pPr>
            <a:r>
              <a:rPr sz="1050" b="1">
                <a:solidFill>
                  <a:srgbClr val="B54848"/>
                </a:solidFill>
              </a:rPr>
              <a:t>PHASE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26E74-FF84-4BF9-B724-600E8154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43175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17324D"/>
                </a:solidFill>
              </a:defRPr>
            </a:defPPr>
            <a:lvl1pPr algn="ctr">
              <a:defRPr sz="1200" b="1">
                <a:solidFill>
                  <a:srgbClr val="17324D"/>
                </a:solidFill>
              </a:defRPr>
            </a:lvl1pPr>
            <a:lvl2pPr algn="ctr">
              <a:defRPr sz="1200" b="1">
                <a:solidFill>
                  <a:srgbClr val="17324D"/>
                </a:solidFill>
              </a:defRPr>
            </a:lvl2pPr>
            <a:lvl3pPr algn="ctr">
              <a:defRPr sz="1200" b="1">
                <a:solidFill>
                  <a:srgbClr val="17324D"/>
                </a:solidFill>
              </a:defRPr>
            </a:lvl3pPr>
            <a:lvl4pPr algn="ctr">
              <a:defRPr sz="1200" b="1">
                <a:solidFill>
                  <a:srgbClr val="17324D"/>
                </a:solidFill>
              </a:defRPr>
            </a:lvl4pPr>
            <a:lvl5pPr algn="ctr">
              <a:defRPr sz="1200" b="1">
                <a:solidFill>
                  <a:srgbClr val="17324D"/>
                </a:solidFill>
              </a:defRPr>
            </a:lvl5pPr>
            <a:lvl6pPr algn="ctr">
              <a:defRPr sz="1200" b="1">
                <a:solidFill>
                  <a:srgbClr val="17324D"/>
                </a:solidFill>
              </a:defRPr>
            </a:lvl6pPr>
            <a:lvl7pPr algn="ctr">
              <a:defRPr sz="1200" b="1">
                <a:solidFill>
                  <a:srgbClr val="17324D"/>
                </a:solidFill>
              </a:defRPr>
            </a:lvl7pPr>
            <a:lvl8pPr algn="ctr">
              <a:defRPr sz="1200" b="1">
                <a:solidFill>
                  <a:srgbClr val="17324D"/>
                </a:solidFill>
              </a:defRPr>
            </a:lvl8pPr>
            <a:lvl9pPr algn="ctr">
              <a:defRPr sz="12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7324D"/>
                </a:solidFill>
              </a:defRPr>
            </a:pPr>
            <a:r>
              <a:rPr sz="1200" b="1">
                <a:solidFill>
                  <a:srgbClr val="17324D"/>
                </a:solidFill>
              </a:rPr>
              <a:t>NS-3 optional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711CEA-0D4E-4415-83B0-C574778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D974E-92E0-4CAA-A84D-E453BE9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1007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After Phase 1, predictor and baseline work can proceed in parallel.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BF181-785A-4191-849C-0262A4A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DCFCDE-016C-4A5B-8319-1341914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1007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Each phase adds a component needed by the next one.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D6CB2D-C41C-4D01-89D0-EA396480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24BCC-74A0-4A06-A011-15C942DF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10077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Phase 7 would use packet-level NS-3, but its checks remain incomplete.</a:t>
            </a:r>
          </a:p>
        </p:txBody>
      </p:sp>
    </p:spTree>
    <p:extLst>
      <p:ext uri="{BB962C8B-B14F-4D97-AF65-F5344CB8AC3E}">
        <p14:creationId xmlns:p14="http://schemas.microsoft.com/office/powerpoint/2010/main" val="1026102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FA524-87CF-4C8C-BDED-D1D2C76B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Five simulated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4EDEF-26E3-4310-AE66-CAFCCDA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Different conditions test different routing challenges.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7FCBA-05B2-48A5-84E8-A5FFABF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7DEA6-C0DD-4BB4-862A-791766A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AD8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972D5-4C9A-4D6B-A211-0CB2D10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954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D8D"/>
                </a:solidFill>
              </a:defRPr>
            </a:defPPr>
            <a:lvl1pPr algn="l">
              <a:defRPr sz="1350" b="1">
                <a:solidFill>
                  <a:srgbClr val="167D8D"/>
                </a:solidFill>
              </a:defRPr>
            </a:lvl1pPr>
            <a:lvl2pPr algn="l">
              <a:defRPr sz="1350" b="1">
                <a:solidFill>
                  <a:srgbClr val="167D8D"/>
                </a:solidFill>
              </a:defRPr>
            </a:lvl2pPr>
            <a:lvl3pPr algn="l">
              <a:defRPr sz="1350" b="1">
                <a:solidFill>
                  <a:srgbClr val="167D8D"/>
                </a:solidFill>
              </a:defRPr>
            </a:lvl3pPr>
            <a:lvl4pPr algn="l">
              <a:defRPr sz="1350" b="1">
                <a:solidFill>
                  <a:srgbClr val="167D8D"/>
                </a:solidFill>
              </a:defRPr>
            </a:lvl4pPr>
            <a:lvl5pPr algn="l">
              <a:defRPr sz="1350" b="1">
                <a:solidFill>
                  <a:srgbClr val="167D8D"/>
                </a:solidFill>
              </a:defRPr>
            </a:lvl5pPr>
            <a:lvl6pPr algn="l">
              <a:defRPr sz="1350" b="1">
                <a:solidFill>
                  <a:srgbClr val="167D8D"/>
                </a:solidFill>
              </a:defRPr>
            </a:lvl6pPr>
            <a:lvl7pPr algn="l">
              <a:defRPr sz="1350" b="1">
                <a:solidFill>
                  <a:srgbClr val="167D8D"/>
                </a:solidFill>
              </a:defRPr>
            </a:lvl7pPr>
            <a:lvl8pPr algn="l">
              <a:defRPr sz="1350" b="1">
                <a:solidFill>
                  <a:srgbClr val="167D8D"/>
                </a:solidFill>
              </a:defRPr>
            </a:lvl8pPr>
            <a:lvl9pPr algn="l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STEADY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7CAF2-C7CA-47EE-BCD4-EE26F458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954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Normal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321CE-1B45-4C3F-9392-2CF0724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AD8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632A3-1BBF-41A9-8069-6BCFCD9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9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D8D"/>
                </a:solidFill>
              </a:defRPr>
            </a:defPPr>
            <a:lvl1pPr algn="l">
              <a:defRPr sz="1350" b="1">
                <a:solidFill>
                  <a:srgbClr val="167D8D"/>
                </a:solidFill>
              </a:defRPr>
            </a:lvl1pPr>
            <a:lvl2pPr algn="l">
              <a:defRPr sz="1350" b="1">
                <a:solidFill>
                  <a:srgbClr val="167D8D"/>
                </a:solidFill>
              </a:defRPr>
            </a:lvl2pPr>
            <a:lvl3pPr algn="l">
              <a:defRPr sz="1350" b="1">
                <a:solidFill>
                  <a:srgbClr val="167D8D"/>
                </a:solidFill>
              </a:defRPr>
            </a:lvl3pPr>
            <a:lvl4pPr algn="l">
              <a:defRPr sz="1350" b="1">
                <a:solidFill>
                  <a:srgbClr val="167D8D"/>
                </a:solidFill>
              </a:defRPr>
            </a:lvl4pPr>
            <a:lvl5pPr algn="l">
              <a:defRPr sz="1350" b="1">
                <a:solidFill>
                  <a:srgbClr val="167D8D"/>
                </a:solidFill>
              </a:defRPr>
            </a:lvl5pPr>
            <a:lvl6pPr algn="l">
              <a:defRPr sz="1350" b="1">
                <a:solidFill>
                  <a:srgbClr val="167D8D"/>
                </a:solidFill>
              </a:defRPr>
            </a:lvl6pPr>
            <a:lvl7pPr algn="l">
              <a:defRPr sz="1350" b="1">
                <a:solidFill>
                  <a:srgbClr val="167D8D"/>
                </a:solidFill>
              </a:defRPr>
            </a:lvl7pPr>
            <a:lvl8pPr algn="l">
              <a:defRPr sz="1350" b="1">
                <a:solidFill>
                  <a:srgbClr val="167D8D"/>
                </a:solidFill>
              </a:defRPr>
            </a:lvl8pPr>
            <a:lvl9pPr algn="l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CONGESTION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95EC0-125B-472B-BEBC-F00FA6A0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98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A link gets crowded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05344-808B-4B4C-8A89-A67A130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AD8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3C9AD-25DD-447D-A21D-3993E542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242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D8D"/>
                </a:solidFill>
              </a:defRPr>
            </a:defPPr>
            <a:lvl1pPr algn="l">
              <a:defRPr sz="1350" b="1">
                <a:solidFill>
                  <a:srgbClr val="167D8D"/>
                </a:solidFill>
              </a:defRPr>
            </a:lvl1pPr>
            <a:lvl2pPr algn="l">
              <a:defRPr sz="1350" b="1">
                <a:solidFill>
                  <a:srgbClr val="167D8D"/>
                </a:solidFill>
              </a:defRPr>
            </a:lvl2pPr>
            <a:lvl3pPr algn="l">
              <a:defRPr sz="1350" b="1">
                <a:solidFill>
                  <a:srgbClr val="167D8D"/>
                </a:solidFill>
              </a:defRPr>
            </a:lvl3pPr>
            <a:lvl4pPr algn="l">
              <a:defRPr sz="1350" b="1">
                <a:solidFill>
                  <a:srgbClr val="167D8D"/>
                </a:solidFill>
              </a:defRPr>
            </a:lvl4pPr>
            <a:lvl5pPr algn="l">
              <a:defRPr sz="1350" b="1">
                <a:solidFill>
                  <a:srgbClr val="167D8D"/>
                </a:solidFill>
              </a:defRPr>
            </a:lvl5pPr>
            <a:lvl6pPr algn="l">
              <a:defRPr sz="1350" b="1">
                <a:solidFill>
                  <a:srgbClr val="167D8D"/>
                </a:solidFill>
              </a:defRPr>
            </a:lvl6pPr>
            <a:lvl7pPr algn="l">
              <a:defRPr sz="1350" b="1">
                <a:solidFill>
                  <a:srgbClr val="167D8D"/>
                </a:solidFill>
              </a:defRPr>
            </a:lvl7pPr>
            <a:lvl8pPr algn="l">
              <a:defRPr sz="1350" b="1">
                <a:solidFill>
                  <a:srgbClr val="167D8D"/>
                </a:solidFill>
              </a:defRPr>
            </a:lvl8pPr>
            <a:lvl9pPr algn="l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NODE FAILURE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BA4DB-1626-456D-9AEB-A3C962B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42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A router and its links go 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940F4-E58E-4246-88D7-DAF2953E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AD8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AFBB9-C5D3-4B3D-833C-9B25E8A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38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D8D"/>
                </a:solidFill>
              </a:defRPr>
            </a:defPPr>
            <a:lvl1pPr algn="l">
              <a:defRPr sz="1350" b="1">
                <a:solidFill>
                  <a:srgbClr val="167D8D"/>
                </a:solidFill>
              </a:defRPr>
            </a:lvl1pPr>
            <a:lvl2pPr algn="l">
              <a:defRPr sz="1350" b="1">
                <a:solidFill>
                  <a:srgbClr val="167D8D"/>
                </a:solidFill>
              </a:defRPr>
            </a:lvl2pPr>
            <a:lvl3pPr algn="l">
              <a:defRPr sz="1350" b="1">
                <a:solidFill>
                  <a:srgbClr val="167D8D"/>
                </a:solidFill>
              </a:defRPr>
            </a:lvl3pPr>
            <a:lvl4pPr algn="l">
              <a:defRPr sz="1350" b="1">
                <a:solidFill>
                  <a:srgbClr val="167D8D"/>
                </a:solidFill>
              </a:defRPr>
            </a:lvl4pPr>
            <a:lvl5pPr algn="l">
              <a:defRPr sz="1350" b="1">
                <a:solidFill>
                  <a:srgbClr val="167D8D"/>
                </a:solidFill>
              </a:defRPr>
            </a:lvl5pPr>
            <a:lvl6pPr algn="l">
              <a:defRPr sz="1350" b="1">
                <a:solidFill>
                  <a:srgbClr val="167D8D"/>
                </a:solidFill>
              </a:defRPr>
            </a:lvl6pPr>
            <a:lvl7pPr algn="l">
              <a:defRPr sz="1350" b="1">
                <a:solidFill>
                  <a:srgbClr val="167D8D"/>
                </a:solidFill>
              </a:defRPr>
            </a:lvl7pPr>
            <a:lvl8pPr algn="l">
              <a:defRPr sz="1350" b="1">
                <a:solidFill>
                  <a:srgbClr val="167D8D"/>
                </a:solidFill>
              </a:defRPr>
            </a:lvl8pPr>
            <a:lvl9pPr algn="l">
              <a:defRPr sz="135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67D8D"/>
                </a:solidFill>
              </a:defRPr>
            </a:pPr>
            <a:r>
              <a:rPr sz="1350" b="1">
                <a:solidFill>
                  <a:srgbClr val="167D8D"/>
                </a:solidFill>
              </a:rPr>
              <a:t>FLUCTUATION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75753-ED4E-47D9-95FF-8A670232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386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Link quality changes over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67AE4-AC13-45A9-9790-7C2BA1CB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E9CB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0DDD6-2DD6-4E94-8DA9-24FDBD3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530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9A6811"/>
                </a:solidFill>
              </a:defRPr>
            </a:defPPr>
            <a:lvl1pPr algn="l">
              <a:defRPr sz="1350" b="1">
                <a:solidFill>
                  <a:srgbClr val="9A6811"/>
                </a:solidFill>
              </a:defRPr>
            </a:lvl1pPr>
            <a:lvl2pPr algn="l">
              <a:defRPr sz="1350" b="1">
                <a:solidFill>
                  <a:srgbClr val="9A6811"/>
                </a:solidFill>
              </a:defRPr>
            </a:lvl2pPr>
            <a:lvl3pPr algn="l">
              <a:defRPr sz="1350" b="1">
                <a:solidFill>
                  <a:srgbClr val="9A6811"/>
                </a:solidFill>
              </a:defRPr>
            </a:lvl3pPr>
            <a:lvl4pPr algn="l">
              <a:defRPr sz="1350" b="1">
                <a:solidFill>
                  <a:srgbClr val="9A6811"/>
                </a:solidFill>
              </a:defRPr>
            </a:lvl4pPr>
            <a:lvl5pPr algn="l">
              <a:defRPr sz="1350" b="1">
                <a:solidFill>
                  <a:srgbClr val="9A6811"/>
                </a:solidFill>
              </a:defRPr>
            </a:lvl5pPr>
            <a:lvl6pPr algn="l">
              <a:defRPr sz="1350" b="1">
                <a:solidFill>
                  <a:srgbClr val="9A6811"/>
                </a:solidFill>
              </a:defRPr>
            </a:lvl6pPr>
            <a:lvl7pPr algn="l">
              <a:defRPr sz="1350" b="1">
                <a:solidFill>
                  <a:srgbClr val="9A6811"/>
                </a:solidFill>
              </a:defRPr>
            </a:lvl7pPr>
            <a:lvl8pPr algn="l">
              <a:defRPr sz="1350" b="1">
                <a:solidFill>
                  <a:srgbClr val="9A6811"/>
                </a:solidFill>
              </a:defRPr>
            </a:lvl8pPr>
            <a:lvl9pPr algn="l">
              <a:defRPr sz="1350" b="1">
                <a:solidFill>
                  <a:srgbClr val="9A6811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9A6811"/>
                </a:solidFill>
              </a:defRPr>
            </a:pPr>
            <a:r>
              <a:rPr sz="1350" b="1">
                <a:solidFill>
                  <a:srgbClr val="9A6811"/>
                </a:solidFill>
              </a:rPr>
              <a:t>MIXED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C40A2-CAFC-4C2B-9599-AD9CD4C5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53025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A combination of events</a:t>
            </a:r>
          </a:p>
        </p:txBody>
      </p:sp>
    </p:spTree>
    <p:extLst>
      <p:ext uri="{BB962C8B-B14F-4D97-AF65-F5344CB8AC3E}">
        <p14:creationId xmlns:p14="http://schemas.microsoft.com/office/powerpoint/2010/main" val="17237129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C4937-0773-421D-8BC9-767ACC7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Phase 2 — Link-risk predictor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04AAA-36BB-498B-B3B4-BEB4FE0C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A GRU reads recent measurements and estimates near-future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249C6-1168-4F6E-B02E-BAD56769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1D240-2F2E-4B28-89F1-52B66FB2B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faae6fea34094"/>
          <a:stretch xmlns:a="http://schemas.openxmlformats.org/drawingml/2006/main"/>
        </p:blipFill>
        <p:spPr>
          <a:xfrm xmlns:a="http://schemas.openxmlformats.org/drawingml/2006/main">
            <a:off x="857250" y="1867807"/>
            <a:ext cx="6572250" cy="28366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4E7A5-907D-4460-8572-9AA59C9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429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5EFF5"/>
          </a:solidFill>
          <a:ln xmlns:a="http://schemas.openxmlformats.org/drawingml/2006/main" w="9525">
            <a:solidFill>
              <a:srgbClr val="C5D5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99C7A-9055-45D8-ACE6-60ADC8B6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7324D"/>
                </a:solidFill>
              </a:defRPr>
            </a:defPPr>
            <a:lvl1pPr algn="ctr">
              <a:defRPr sz="1575" b="1">
                <a:solidFill>
                  <a:srgbClr val="17324D"/>
                </a:solidFill>
              </a:defRPr>
            </a:lvl1pPr>
            <a:lvl2pPr algn="ctr">
              <a:defRPr sz="1575" b="1">
                <a:solidFill>
                  <a:srgbClr val="17324D"/>
                </a:solidFill>
              </a:defRPr>
            </a:lvl2pPr>
            <a:lvl3pPr algn="ctr">
              <a:defRPr sz="1575" b="1">
                <a:solidFill>
                  <a:srgbClr val="17324D"/>
                </a:solidFill>
              </a:defRPr>
            </a:lvl3pPr>
            <a:lvl4pPr algn="ctr">
              <a:defRPr sz="1575" b="1">
                <a:solidFill>
                  <a:srgbClr val="17324D"/>
                </a:solidFill>
              </a:defRPr>
            </a:lvl4pPr>
            <a:lvl5pPr algn="ctr">
              <a:defRPr sz="1575" b="1">
                <a:solidFill>
                  <a:srgbClr val="17324D"/>
                </a:solidFill>
              </a:defRPr>
            </a:lvl5pPr>
            <a:lvl6pPr algn="ctr">
              <a:defRPr sz="1575" b="1">
                <a:solidFill>
                  <a:srgbClr val="17324D"/>
                </a:solidFill>
              </a:defRPr>
            </a:lvl6pPr>
            <a:lvl7pPr algn="ctr">
              <a:defRPr sz="1575" b="1">
                <a:solidFill>
                  <a:srgbClr val="17324D"/>
                </a:solidFill>
              </a:defRPr>
            </a:lvl7pPr>
            <a:lvl8pPr algn="ctr">
              <a:defRPr sz="1575" b="1">
                <a:solidFill>
                  <a:srgbClr val="17324D"/>
                </a:solidFill>
              </a:defRPr>
            </a:lvl8pPr>
            <a:lvl9pPr algn="ctr">
              <a:defRPr sz="157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10 past ticks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5 link measurements</a:t>
            </a:r>
          </a:p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→ risk in next H ticks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17396-6750-48DE-A161-64D64A08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B54848"/>
                </a:solidFill>
              </a:defRPr>
            </a:defPPr>
            <a:lvl1pPr algn="ctr">
              <a:defRPr sz="1950" b="1">
                <a:solidFill>
                  <a:srgbClr val="B54848"/>
                </a:solidFill>
              </a:defRPr>
            </a:lvl1pPr>
            <a:lvl2pPr algn="ctr">
              <a:defRPr sz="1950" b="1">
                <a:solidFill>
                  <a:srgbClr val="B54848"/>
                </a:solidFill>
              </a:defRPr>
            </a:lvl2pPr>
            <a:lvl3pPr algn="ctr">
              <a:defRPr sz="1950" b="1">
                <a:solidFill>
                  <a:srgbClr val="B54848"/>
                </a:solidFill>
              </a:defRPr>
            </a:lvl3pPr>
            <a:lvl4pPr algn="ctr">
              <a:defRPr sz="1950" b="1">
                <a:solidFill>
                  <a:srgbClr val="B54848"/>
                </a:solidFill>
              </a:defRPr>
            </a:lvl4pPr>
            <a:lvl5pPr algn="ctr">
              <a:defRPr sz="1950" b="1">
                <a:solidFill>
                  <a:srgbClr val="B54848"/>
                </a:solidFill>
              </a:defRPr>
            </a:lvl5pPr>
            <a:lvl6pPr algn="ctr">
              <a:defRPr sz="1950" b="1">
                <a:solidFill>
                  <a:srgbClr val="B54848"/>
                </a:solidFill>
              </a:defRPr>
            </a:lvl6pPr>
            <a:lvl7pPr algn="ctr">
              <a:defRPr sz="1950" b="1">
                <a:solidFill>
                  <a:srgbClr val="B54848"/>
                </a:solidFill>
              </a:defRPr>
            </a:lvl7pPr>
            <a:lvl8pPr algn="ctr">
              <a:defRPr sz="1950" b="1">
                <a:solidFill>
                  <a:srgbClr val="B54848"/>
                </a:solidFill>
              </a:defRPr>
            </a:lvl8pPr>
            <a:lvl9pPr algn="ctr">
              <a:defRPr sz="1950" b="1">
                <a:solidFill>
                  <a:srgbClr val="B54848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B54848"/>
                </a:solidFill>
              </a:defRPr>
            </a:pPr>
            <a:r>
              <a:rPr sz="1950" b="1">
                <a:solidFill>
                  <a:srgbClr val="B54848"/>
                </a:solidFill>
              </a:rPr>
              <a:t>Overall onset F1</a:t>
            </a:r>
          </a:p>
          <a:p xmlns:a="http://schemas.openxmlformats.org/drawingml/2006/main">
            <a:pPr algn="ctr">
              <a:defRPr sz="1950" b="1">
                <a:solidFill>
                  <a:srgbClr val="B54848"/>
                </a:solidFill>
              </a:defRPr>
            </a:pPr>
            <a:r>
              <a:rPr sz="1950" b="1">
                <a:solidFill>
                  <a:srgbClr val="B54848"/>
                </a:solidFill>
              </a:rPr>
              <a:t>0.5296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CADDF-B7C1-4277-A966-CD5C5B31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</a:defRPr>
            </a:defPPr>
            <a:lvl1pPr algn="ctr">
              <a:defRPr sz="1725" b="1">
                <a:solidFill>
                  <a:srgbClr val="167D8D"/>
                </a:solidFill>
              </a:defRPr>
            </a:lvl1pPr>
            <a:lvl2pPr algn="ctr">
              <a:defRPr sz="1725" b="1">
                <a:solidFill>
                  <a:srgbClr val="167D8D"/>
                </a:solidFill>
              </a:defRPr>
            </a:lvl2pPr>
            <a:lvl3pPr algn="ctr">
              <a:defRPr sz="1725" b="1">
                <a:solidFill>
                  <a:srgbClr val="167D8D"/>
                </a:solidFill>
              </a:defRPr>
            </a:lvl3pPr>
            <a:lvl4pPr algn="ctr">
              <a:defRPr sz="1725" b="1">
                <a:solidFill>
                  <a:srgbClr val="167D8D"/>
                </a:solidFill>
              </a:defRPr>
            </a:lvl4pPr>
            <a:lvl5pPr algn="ctr">
              <a:defRPr sz="1725" b="1">
                <a:solidFill>
                  <a:srgbClr val="167D8D"/>
                </a:solidFill>
              </a:defRPr>
            </a:lvl5pPr>
            <a:lvl6pPr algn="ctr">
              <a:defRPr sz="1725" b="1">
                <a:solidFill>
                  <a:srgbClr val="167D8D"/>
                </a:solidFill>
              </a:defRPr>
            </a:lvl6pPr>
            <a:lvl7pPr algn="ctr">
              <a:defRPr sz="1725" b="1">
                <a:solidFill>
                  <a:srgbClr val="167D8D"/>
                </a:solidFill>
              </a:defRPr>
            </a:lvl7pPr>
            <a:lvl8pPr algn="ctr">
              <a:defRPr sz="1725" b="1">
                <a:solidFill>
                  <a:srgbClr val="167D8D"/>
                </a:solidFill>
              </a:defRPr>
            </a:lvl8pPr>
            <a:lvl9pPr algn="ctr">
              <a:defRPr sz="17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Precursor-only F1</a:t>
            </a:r>
          </a:p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0.7476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07B1A-9C5F-4C85-BE06-1D9E4471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192A3A"/>
                </a:solidFill>
              </a:defRPr>
            </a:defPPr>
            <a:lvl1pPr algn="ctr">
              <a:defRPr sz="1650" b="0">
                <a:solidFill>
                  <a:srgbClr val="192A3A"/>
                </a:solidFill>
              </a:defRPr>
            </a:lvl1pPr>
            <a:lvl2pPr algn="ctr">
              <a:defRPr sz="1650" b="0">
                <a:solidFill>
                  <a:srgbClr val="192A3A"/>
                </a:solidFill>
              </a:defRPr>
            </a:lvl2pPr>
            <a:lvl3pPr algn="ctr">
              <a:defRPr sz="1650" b="0">
                <a:solidFill>
                  <a:srgbClr val="192A3A"/>
                </a:solidFill>
              </a:defRPr>
            </a:lvl3pPr>
            <a:lvl4pPr algn="ctr">
              <a:defRPr sz="1650" b="0">
                <a:solidFill>
                  <a:srgbClr val="192A3A"/>
                </a:solidFill>
              </a:defRPr>
            </a:lvl4pPr>
            <a:lvl5pPr algn="ctr">
              <a:defRPr sz="1650" b="0">
                <a:solidFill>
                  <a:srgbClr val="192A3A"/>
                </a:solidFill>
              </a:defRPr>
            </a:lvl5pPr>
            <a:lvl6pPr algn="ctr">
              <a:defRPr sz="1650" b="0">
                <a:solidFill>
                  <a:srgbClr val="192A3A"/>
                </a:solidFill>
              </a:defRPr>
            </a:lvl6pPr>
            <a:lvl7pPr algn="ctr">
              <a:defRPr sz="1650" b="0">
                <a:solidFill>
                  <a:srgbClr val="192A3A"/>
                </a:solidFill>
              </a:defRPr>
            </a:lvl7pPr>
            <a:lvl8pPr algn="ctr">
              <a:defRPr sz="1650" b="0">
                <a:solidFill>
                  <a:srgbClr val="192A3A"/>
                </a:solidFill>
              </a:defRPr>
            </a:lvl8pPr>
            <a:lvl9pPr algn="ctr">
              <a:defRPr sz="16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92A3A"/>
                </a:solidFill>
              </a:defRPr>
            </a:pPr>
            <a:r>
              <a:rPr sz="1650" b="0">
                <a:solidFill>
                  <a:srgbClr val="192A3A"/>
                </a:solidFill>
              </a:rPr>
              <a:t>Overall onset target = 0.70  →  did not pass</a:t>
            </a:r>
          </a:p>
        </p:txBody>
      </p:sp>
    </p:spTree>
    <p:extLst>
      <p:ext uri="{BB962C8B-B14F-4D97-AF65-F5344CB8AC3E}">
        <p14:creationId xmlns:p14="http://schemas.microsoft.com/office/powerpoint/2010/main" val="16159461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9B783-94C7-4DD1-BED8-C47421EF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Phase 3–4 — Routing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31E7D-4353-49B7-80BD-0AEDC31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Baselines help isolate what prediction and the switch penalty contribute.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CA587-27C9-47D8-AA38-F0792DA5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5B743-B06C-4D45-9E28-3C24C23B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Shortest-path failover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C9EA5-1E84-4AF4-9A39-46B8C64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92A3A"/>
                </a:solidFill>
              </a:defRPr>
            </a:defPPr>
            <a:lvl1pPr algn="l">
              <a:defRPr sz="1500" b="0">
                <a:solidFill>
                  <a:srgbClr val="192A3A"/>
                </a:solidFill>
              </a:defRPr>
            </a:lvl1pPr>
            <a:lvl2pPr algn="l">
              <a:defRPr sz="1500" b="0">
                <a:solidFill>
                  <a:srgbClr val="192A3A"/>
                </a:solidFill>
              </a:defRPr>
            </a:lvl2pPr>
            <a:lvl3pPr algn="l">
              <a:defRPr sz="1500" b="0">
                <a:solidFill>
                  <a:srgbClr val="192A3A"/>
                </a:solidFill>
              </a:defRPr>
            </a:lvl3pPr>
            <a:lvl4pPr algn="l">
              <a:defRPr sz="1500" b="0">
                <a:solidFill>
                  <a:srgbClr val="192A3A"/>
                </a:solidFill>
              </a:defRPr>
            </a:lvl4pPr>
            <a:lvl5pPr algn="l">
              <a:defRPr sz="1500" b="0">
                <a:solidFill>
                  <a:srgbClr val="192A3A"/>
                </a:solidFill>
              </a:defRPr>
            </a:lvl5pPr>
            <a:lvl6pPr algn="l">
              <a:defRPr sz="1500" b="0">
                <a:solidFill>
                  <a:srgbClr val="192A3A"/>
                </a:solidFill>
              </a:defRPr>
            </a:lvl6pPr>
            <a:lvl7pPr algn="l">
              <a:defRPr sz="1500" b="0">
                <a:solidFill>
                  <a:srgbClr val="192A3A"/>
                </a:solidFill>
              </a:defRPr>
            </a:lvl7pPr>
            <a:lvl8pPr algn="l">
              <a:defRPr sz="1500" b="0">
                <a:solidFill>
                  <a:srgbClr val="192A3A"/>
                </a:solidFill>
              </a:defRPr>
            </a:lvl8pPr>
            <a:lvl9pPr algn="l">
              <a:defRPr sz="15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92A3A"/>
                </a:solidFill>
              </a:defRPr>
            </a:pPr>
            <a:r>
              <a:rPr sz="1500" b="0">
                <a:solidFill>
                  <a:srgbClr val="192A3A"/>
                </a:solidFill>
              </a:rPr>
              <a:t>Stays unless current route fails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49847-ACA8-489E-8C7E-173914A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9526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4DB72-DCB1-4BFE-898F-BD4D6AD6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Reactive DQN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E17EA-39C3-4325-8887-25580D0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92A3A"/>
                </a:solidFill>
              </a:defRPr>
            </a:defPPr>
            <a:lvl1pPr algn="l">
              <a:defRPr sz="1500" b="0">
                <a:solidFill>
                  <a:srgbClr val="192A3A"/>
                </a:solidFill>
              </a:defRPr>
            </a:lvl1pPr>
            <a:lvl2pPr algn="l">
              <a:defRPr sz="1500" b="0">
                <a:solidFill>
                  <a:srgbClr val="192A3A"/>
                </a:solidFill>
              </a:defRPr>
            </a:lvl2pPr>
            <a:lvl3pPr algn="l">
              <a:defRPr sz="1500" b="0">
                <a:solidFill>
                  <a:srgbClr val="192A3A"/>
                </a:solidFill>
              </a:defRPr>
            </a:lvl3pPr>
            <a:lvl4pPr algn="l">
              <a:defRPr sz="1500" b="0">
                <a:solidFill>
                  <a:srgbClr val="192A3A"/>
                </a:solidFill>
              </a:defRPr>
            </a:lvl4pPr>
            <a:lvl5pPr algn="l">
              <a:defRPr sz="1500" b="0">
                <a:solidFill>
                  <a:srgbClr val="192A3A"/>
                </a:solidFill>
              </a:defRPr>
            </a:lvl5pPr>
            <a:lvl6pPr algn="l">
              <a:defRPr sz="1500" b="0">
                <a:solidFill>
                  <a:srgbClr val="192A3A"/>
                </a:solidFill>
              </a:defRPr>
            </a:lvl6pPr>
            <a:lvl7pPr algn="l">
              <a:defRPr sz="1500" b="0">
                <a:solidFill>
                  <a:srgbClr val="192A3A"/>
                </a:solidFill>
              </a:defRPr>
            </a:lvl7pPr>
            <a:lvl8pPr algn="l">
              <a:defRPr sz="1500" b="0">
                <a:solidFill>
                  <a:srgbClr val="192A3A"/>
                </a:solidFill>
              </a:defRPr>
            </a:lvl8pPr>
            <a:lvl9pPr algn="l">
              <a:defRPr sz="15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92A3A"/>
                </a:solidFill>
              </a:defRPr>
            </a:pPr>
            <a:r>
              <a:rPr sz="1500" b="0">
                <a:solidFill>
                  <a:srgbClr val="192A3A"/>
                </a:solidFill>
              </a:rPr>
              <a:t>Learns using current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9CA5F-49C0-4E46-A471-63F915A1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8289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56A1A-59C6-40E3-A0D0-75D7DA8B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Predictive DQN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ACB5A-9A92-46A0-B3BC-5A07151F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92A3A"/>
                </a:solidFill>
              </a:defRPr>
            </a:defPPr>
            <a:lvl1pPr algn="l">
              <a:defRPr sz="1500" b="0">
                <a:solidFill>
                  <a:srgbClr val="192A3A"/>
                </a:solidFill>
              </a:defRPr>
            </a:lvl1pPr>
            <a:lvl2pPr algn="l">
              <a:defRPr sz="1500" b="0">
                <a:solidFill>
                  <a:srgbClr val="192A3A"/>
                </a:solidFill>
              </a:defRPr>
            </a:lvl2pPr>
            <a:lvl3pPr algn="l">
              <a:defRPr sz="1500" b="0">
                <a:solidFill>
                  <a:srgbClr val="192A3A"/>
                </a:solidFill>
              </a:defRPr>
            </a:lvl3pPr>
            <a:lvl4pPr algn="l">
              <a:defRPr sz="1500" b="0">
                <a:solidFill>
                  <a:srgbClr val="192A3A"/>
                </a:solidFill>
              </a:defRPr>
            </a:lvl4pPr>
            <a:lvl5pPr algn="l">
              <a:defRPr sz="1500" b="0">
                <a:solidFill>
                  <a:srgbClr val="192A3A"/>
                </a:solidFill>
              </a:defRPr>
            </a:lvl5pPr>
            <a:lvl6pPr algn="l">
              <a:defRPr sz="1500" b="0">
                <a:solidFill>
                  <a:srgbClr val="192A3A"/>
                </a:solidFill>
              </a:defRPr>
            </a:lvl6pPr>
            <a:lvl7pPr algn="l">
              <a:defRPr sz="1500" b="0">
                <a:solidFill>
                  <a:srgbClr val="192A3A"/>
                </a:solidFill>
              </a:defRPr>
            </a:lvl7pPr>
            <a:lvl8pPr algn="l">
              <a:defRPr sz="1500" b="0">
                <a:solidFill>
                  <a:srgbClr val="192A3A"/>
                </a:solidFill>
              </a:defRPr>
            </a:lvl8pPr>
            <a:lvl9pPr algn="l">
              <a:defRPr sz="15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92A3A"/>
                </a:solidFill>
              </a:defRPr>
            </a:pPr>
            <a:r>
              <a:rPr sz="1500" b="0">
                <a:solidFill>
                  <a:srgbClr val="192A3A"/>
                </a:solidFill>
              </a:rPr>
              <a:t>Adds predicted risk, λ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5D205-C613-449F-9F87-FCE509D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7052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9D293-72A3-43C5-9776-6D96293F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D8D"/>
                </a:solidFill>
              </a:defRPr>
            </a:defPPr>
            <a:lvl1pPr algn="l">
              <a:defRPr sz="1500" b="1">
                <a:solidFill>
                  <a:srgbClr val="167D8D"/>
                </a:solidFill>
              </a:defRPr>
            </a:lvl1pPr>
            <a:lvl2pPr algn="l">
              <a:defRPr sz="1500" b="1">
                <a:solidFill>
                  <a:srgbClr val="167D8D"/>
                </a:solidFill>
              </a:defRPr>
            </a:lvl2pPr>
            <a:lvl3pPr algn="l">
              <a:defRPr sz="1500" b="1">
                <a:solidFill>
                  <a:srgbClr val="167D8D"/>
                </a:solidFill>
              </a:defRPr>
            </a:lvl3pPr>
            <a:lvl4pPr algn="l">
              <a:defRPr sz="1500" b="1">
                <a:solidFill>
                  <a:srgbClr val="167D8D"/>
                </a:solidFill>
              </a:defRPr>
            </a:lvl4pPr>
            <a:lvl5pPr algn="l">
              <a:defRPr sz="1500" b="1">
                <a:solidFill>
                  <a:srgbClr val="167D8D"/>
                </a:solidFill>
              </a:defRPr>
            </a:lvl5pPr>
            <a:lvl6pPr algn="l">
              <a:defRPr sz="1500" b="1">
                <a:solidFill>
                  <a:srgbClr val="167D8D"/>
                </a:solidFill>
              </a:defRPr>
            </a:lvl6pPr>
            <a:lvl7pPr algn="l">
              <a:defRPr sz="1500" b="1">
                <a:solidFill>
                  <a:srgbClr val="167D8D"/>
                </a:solidFill>
              </a:defRPr>
            </a:lvl7pPr>
            <a:lvl8pPr algn="l">
              <a:defRPr sz="1500" b="1">
                <a:solidFill>
                  <a:srgbClr val="167D8D"/>
                </a:solidFill>
              </a:defRPr>
            </a:lvl8pPr>
            <a:lvl9pPr algn="l">
              <a:defRPr sz="15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7D8D"/>
                </a:solidFill>
              </a:defRPr>
            </a:pPr>
            <a:r>
              <a:rPr sz="1500" b="1">
                <a:solidFill>
                  <a:srgbClr val="167D8D"/>
                </a:solidFill>
              </a:rPr>
              <a:t>PRESTO-R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94C05-9FA3-42A9-8D64-002310F2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624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92A3A"/>
                </a:solidFill>
              </a:defRPr>
            </a:defPPr>
            <a:lvl1pPr algn="l">
              <a:defRPr sz="1500" b="0">
                <a:solidFill>
                  <a:srgbClr val="192A3A"/>
                </a:solidFill>
              </a:defRPr>
            </a:lvl1pPr>
            <a:lvl2pPr algn="l">
              <a:defRPr sz="1500" b="0">
                <a:solidFill>
                  <a:srgbClr val="192A3A"/>
                </a:solidFill>
              </a:defRPr>
            </a:lvl2pPr>
            <a:lvl3pPr algn="l">
              <a:defRPr sz="1500" b="0">
                <a:solidFill>
                  <a:srgbClr val="192A3A"/>
                </a:solidFill>
              </a:defRPr>
            </a:lvl3pPr>
            <a:lvl4pPr algn="l">
              <a:defRPr sz="1500" b="0">
                <a:solidFill>
                  <a:srgbClr val="192A3A"/>
                </a:solidFill>
              </a:defRPr>
            </a:lvl4pPr>
            <a:lvl5pPr algn="l">
              <a:defRPr sz="1500" b="0">
                <a:solidFill>
                  <a:srgbClr val="192A3A"/>
                </a:solidFill>
              </a:defRPr>
            </a:lvl5pPr>
            <a:lvl6pPr algn="l">
              <a:defRPr sz="1500" b="0">
                <a:solidFill>
                  <a:srgbClr val="192A3A"/>
                </a:solidFill>
              </a:defRPr>
            </a:lvl6pPr>
            <a:lvl7pPr algn="l">
              <a:defRPr sz="1500" b="0">
                <a:solidFill>
                  <a:srgbClr val="192A3A"/>
                </a:solidFill>
              </a:defRPr>
            </a:lvl7pPr>
            <a:lvl8pPr algn="l">
              <a:defRPr sz="1500" b="0">
                <a:solidFill>
                  <a:srgbClr val="192A3A"/>
                </a:solidFill>
              </a:defRPr>
            </a:lvl8pPr>
            <a:lvl9pPr algn="l">
              <a:defRPr sz="15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92A3A"/>
                </a:solidFill>
              </a:defRPr>
            </a:pPr>
            <a:r>
              <a:rPr sz="1500" b="0">
                <a:solidFill>
                  <a:srgbClr val="192A3A"/>
                </a:solidFill>
              </a:rPr>
              <a:t>Adds predicted risk, λ = 0.5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AB4DB-B055-4CFC-B1D2-D6F0CCE2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45815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E6247-06CB-4A8D-973C-294EB59E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24D"/>
                </a:solidFill>
              </a:defRPr>
            </a:defPPr>
            <a:lvl1pPr algn="l">
              <a:defRPr sz="1500" b="1">
                <a:solidFill>
                  <a:srgbClr val="17324D"/>
                </a:solidFill>
              </a:defRPr>
            </a:lvl1pPr>
            <a:lvl2pPr algn="l">
              <a:defRPr sz="1500" b="1">
                <a:solidFill>
                  <a:srgbClr val="17324D"/>
                </a:solidFill>
              </a:defRPr>
            </a:lvl2pPr>
            <a:lvl3pPr algn="l">
              <a:defRPr sz="1500" b="1">
                <a:solidFill>
                  <a:srgbClr val="17324D"/>
                </a:solidFill>
              </a:defRPr>
            </a:lvl3pPr>
            <a:lvl4pPr algn="l">
              <a:defRPr sz="1500" b="1">
                <a:solidFill>
                  <a:srgbClr val="17324D"/>
                </a:solidFill>
              </a:defRPr>
            </a:lvl4pPr>
            <a:lvl5pPr algn="l">
              <a:defRPr sz="1500" b="1">
                <a:solidFill>
                  <a:srgbClr val="17324D"/>
                </a:solidFill>
              </a:defRPr>
            </a:lvl5pPr>
            <a:lvl6pPr algn="l">
              <a:defRPr sz="1500" b="1">
                <a:solidFill>
                  <a:srgbClr val="17324D"/>
                </a:solidFill>
              </a:defRPr>
            </a:lvl6pPr>
            <a:lvl7pPr algn="l">
              <a:defRPr sz="1500" b="1">
                <a:solidFill>
                  <a:srgbClr val="17324D"/>
                </a:solidFill>
              </a:defRPr>
            </a:lvl7pPr>
            <a:lvl8pPr algn="l">
              <a:defRPr sz="1500" b="1">
                <a:solidFill>
                  <a:srgbClr val="17324D"/>
                </a:solidFill>
              </a:defRPr>
            </a:lvl8pPr>
            <a:lvl9pPr algn="l">
              <a:defRPr sz="15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Oracle PRESTO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2D796-9221-42D3-8B24-21D94947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92A3A"/>
                </a:solidFill>
              </a:defRPr>
            </a:defPPr>
            <a:lvl1pPr algn="l">
              <a:defRPr sz="1500" b="0">
                <a:solidFill>
                  <a:srgbClr val="192A3A"/>
                </a:solidFill>
              </a:defRPr>
            </a:lvl1pPr>
            <a:lvl2pPr algn="l">
              <a:defRPr sz="1500" b="0">
                <a:solidFill>
                  <a:srgbClr val="192A3A"/>
                </a:solidFill>
              </a:defRPr>
            </a:lvl2pPr>
            <a:lvl3pPr algn="l">
              <a:defRPr sz="1500" b="0">
                <a:solidFill>
                  <a:srgbClr val="192A3A"/>
                </a:solidFill>
              </a:defRPr>
            </a:lvl3pPr>
            <a:lvl4pPr algn="l">
              <a:defRPr sz="1500" b="0">
                <a:solidFill>
                  <a:srgbClr val="192A3A"/>
                </a:solidFill>
              </a:defRPr>
            </a:lvl4pPr>
            <a:lvl5pPr algn="l">
              <a:defRPr sz="1500" b="0">
                <a:solidFill>
                  <a:srgbClr val="192A3A"/>
                </a:solidFill>
              </a:defRPr>
            </a:lvl5pPr>
            <a:lvl6pPr algn="l">
              <a:defRPr sz="1500" b="0">
                <a:solidFill>
                  <a:srgbClr val="192A3A"/>
                </a:solidFill>
              </a:defRPr>
            </a:lvl6pPr>
            <a:lvl7pPr algn="l">
              <a:defRPr sz="1500" b="0">
                <a:solidFill>
                  <a:srgbClr val="192A3A"/>
                </a:solidFill>
              </a:defRPr>
            </a:lvl7pPr>
            <a:lvl8pPr algn="l">
              <a:defRPr sz="1500" b="0">
                <a:solidFill>
                  <a:srgbClr val="192A3A"/>
                </a:solidFill>
              </a:defRPr>
            </a:lvl8pPr>
            <a:lvl9pPr algn="l">
              <a:defRPr sz="15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92A3A"/>
                </a:solidFill>
              </a:defRPr>
            </a:pPr>
            <a:r>
              <a:rPr sz="1500" b="0">
                <a:solidFill>
                  <a:srgbClr val="192A3A"/>
                </a:solidFill>
              </a:rPr>
              <a:t>Diagnostic with future knowledge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1E6C3-4D8F-41C4-B58C-0532B3B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457825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5228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C77BE-BE3A-4FC2-A818-8B6EBCD3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The reward formula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1C287-4116-4AB3-B29D-62174A43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It tells the agent which trade-offs matter.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9B17D-4C2C-467B-98ED-8168CF3E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1CB94-0F32-4EE6-85B6-E864A2E0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17324D"/>
                </a:solidFill>
              </a:defRPr>
            </a:defPPr>
            <a:lvl1pPr algn="ctr">
              <a:defRPr sz="2700" b="1">
                <a:solidFill>
                  <a:srgbClr val="17324D"/>
                </a:solidFill>
              </a:defRPr>
            </a:lvl1pPr>
            <a:lvl2pPr algn="ctr">
              <a:defRPr sz="2700" b="1">
                <a:solidFill>
                  <a:srgbClr val="17324D"/>
                </a:solidFill>
              </a:defRPr>
            </a:lvl2pPr>
            <a:lvl3pPr algn="ctr">
              <a:defRPr sz="2700" b="1">
                <a:solidFill>
                  <a:srgbClr val="17324D"/>
                </a:solidFill>
              </a:defRPr>
            </a:lvl3pPr>
            <a:lvl4pPr algn="ctr">
              <a:defRPr sz="2700" b="1">
                <a:solidFill>
                  <a:srgbClr val="17324D"/>
                </a:solidFill>
              </a:defRPr>
            </a:lvl4pPr>
            <a:lvl5pPr algn="ctr">
              <a:defRPr sz="2700" b="1">
                <a:solidFill>
                  <a:srgbClr val="17324D"/>
                </a:solidFill>
              </a:defRPr>
            </a:lvl5pPr>
            <a:lvl6pPr algn="ctr">
              <a:defRPr sz="2700" b="1">
                <a:solidFill>
                  <a:srgbClr val="17324D"/>
                </a:solidFill>
              </a:defRPr>
            </a:lvl6pPr>
            <a:lvl7pPr algn="ctr">
              <a:defRPr sz="2700" b="1">
                <a:solidFill>
                  <a:srgbClr val="17324D"/>
                </a:solidFill>
              </a:defRPr>
            </a:lvl7pPr>
            <a:lvl8pPr algn="ctr">
              <a:defRPr sz="2700" b="1">
                <a:solidFill>
                  <a:srgbClr val="17324D"/>
                </a:solidFill>
              </a:defRPr>
            </a:lvl8pPr>
            <a:lvl9pPr algn="ctr">
              <a:defRPr sz="270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R = −αD − βL + γT − λS − μE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018E9-10E1-4C5D-A852-1362E4D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2076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BDE8A-9D34-4222-9A4D-46E610F5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</a:defRPr>
            </a:defPPr>
            <a:lvl1pPr algn="ctr">
              <a:defRPr sz="1725" b="1">
                <a:solidFill>
                  <a:srgbClr val="167D8D"/>
                </a:solidFill>
              </a:defRPr>
            </a:lvl1pPr>
            <a:lvl2pPr algn="ctr">
              <a:defRPr sz="1725" b="1">
                <a:solidFill>
                  <a:srgbClr val="167D8D"/>
                </a:solidFill>
              </a:defRPr>
            </a:lvl2pPr>
            <a:lvl3pPr algn="ctr">
              <a:defRPr sz="1725" b="1">
                <a:solidFill>
                  <a:srgbClr val="167D8D"/>
                </a:solidFill>
              </a:defRPr>
            </a:lvl3pPr>
            <a:lvl4pPr algn="ctr">
              <a:defRPr sz="1725" b="1">
                <a:solidFill>
                  <a:srgbClr val="167D8D"/>
                </a:solidFill>
              </a:defRPr>
            </a:lvl4pPr>
            <a:lvl5pPr algn="ctr">
              <a:defRPr sz="1725" b="1">
                <a:solidFill>
                  <a:srgbClr val="167D8D"/>
                </a:solidFill>
              </a:defRPr>
            </a:lvl5pPr>
            <a:lvl6pPr algn="ctr">
              <a:defRPr sz="1725" b="1">
                <a:solidFill>
                  <a:srgbClr val="167D8D"/>
                </a:solidFill>
              </a:defRPr>
            </a:lvl6pPr>
            <a:lvl7pPr algn="ctr">
              <a:defRPr sz="1725" b="1">
                <a:solidFill>
                  <a:srgbClr val="167D8D"/>
                </a:solidFill>
              </a:defRPr>
            </a:lvl7pPr>
            <a:lvl8pPr algn="ctr">
              <a:defRPr sz="1725" b="1">
                <a:solidFill>
                  <a:srgbClr val="167D8D"/>
                </a:solidFill>
              </a:defRPr>
            </a:lvl8pPr>
            <a:lvl9pPr algn="ctr">
              <a:defRPr sz="17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AFD97-07E1-4F9A-AE4A-F120A723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670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92A3A"/>
                </a:solidFill>
              </a:defRPr>
            </a:defPPr>
            <a:lvl1pPr algn="ctr">
              <a:defRPr sz="1200" b="0">
                <a:solidFill>
                  <a:srgbClr val="192A3A"/>
                </a:solidFill>
              </a:defRPr>
            </a:lvl1pPr>
            <a:lvl2pPr algn="ctr">
              <a:defRPr sz="1200" b="0">
                <a:solidFill>
                  <a:srgbClr val="192A3A"/>
                </a:solidFill>
              </a:defRPr>
            </a:lvl2pPr>
            <a:lvl3pPr algn="ctr">
              <a:defRPr sz="1200" b="0">
                <a:solidFill>
                  <a:srgbClr val="192A3A"/>
                </a:solidFill>
              </a:defRPr>
            </a:lvl3pPr>
            <a:lvl4pPr algn="ctr">
              <a:defRPr sz="1200" b="0">
                <a:solidFill>
                  <a:srgbClr val="192A3A"/>
                </a:solidFill>
              </a:defRPr>
            </a:lvl4pPr>
            <a:lvl5pPr algn="ctr">
              <a:defRPr sz="1200" b="0">
                <a:solidFill>
                  <a:srgbClr val="192A3A"/>
                </a:solidFill>
              </a:defRPr>
            </a:lvl5pPr>
            <a:lvl6pPr algn="ctr">
              <a:defRPr sz="1200" b="0">
                <a:solidFill>
                  <a:srgbClr val="192A3A"/>
                </a:solidFill>
              </a:defRPr>
            </a:lvl6pPr>
            <a:lvl7pPr algn="ctr">
              <a:defRPr sz="1200" b="0">
                <a:solidFill>
                  <a:srgbClr val="192A3A"/>
                </a:solidFill>
              </a:defRPr>
            </a:lvl7pPr>
            <a:lvl8pPr algn="ctr">
              <a:defRPr sz="1200" b="0">
                <a:solidFill>
                  <a:srgbClr val="192A3A"/>
                </a:solidFill>
              </a:defRPr>
            </a:lvl8pPr>
            <a:lvl9pPr algn="ctr">
              <a:defRPr sz="12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92A3A"/>
                </a:solidFill>
              </a:defRPr>
            </a:pPr>
            <a:r>
              <a:rPr sz="1200" b="0">
                <a:solidFill>
                  <a:srgbClr val="192A3A"/>
                </a:solidFill>
              </a:rPr>
              <a:t>normalized delay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E232F-9476-4903-AAB1-15629F14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2076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75AD-C88C-4E4E-A70E-29203DC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14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</a:defRPr>
            </a:defPPr>
            <a:lvl1pPr algn="ctr">
              <a:defRPr sz="1725" b="1">
                <a:solidFill>
                  <a:srgbClr val="167D8D"/>
                </a:solidFill>
              </a:defRPr>
            </a:lvl1pPr>
            <a:lvl2pPr algn="ctr">
              <a:defRPr sz="1725" b="1">
                <a:solidFill>
                  <a:srgbClr val="167D8D"/>
                </a:solidFill>
              </a:defRPr>
            </a:lvl2pPr>
            <a:lvl3pPr algn="ctr">
              <a:defRPr sz="1725" b="1">
                <a:solidFill>
                  <a:srgbClr val="167D8D"/>
                </a:solidFill>
              </a:defRPr>
            </a:lvl3pPr>
            <a:lvl4pPr algn="ctr">
              <a:defRPr sz="1725" b="1">
                <a:solidFill>
                  <a:srgbClr val="167D8D"/>
                </a:solidFill>
              </a:defRPr>
            </a:lvl4pPr>
            <a:lvl5pPr algn="ctr">
              <a:defRPr sz="1725" b="1">
                <a:solidFill>
                  <a:srgbClr val="167D8D"/>
                </a:solidFill>
              </a:defRPr>
            </a:lvl5pPr>
            <a:lvl6pPr algn="ctr">
              <a:defRPr sz="1725" b="1">
                <a:solidFill>
                  <a:srgbClr val="167D8D"/>
                </a:solidFill>
              </a:defRPr>
            </a:lvl6pPr>
            <a:lvl7pPr algn="ctr">
              <a:defRPr sz="1725" b="1">
                <a:solidFill>
                  <a:srgbClr val="167D8D"/>
                </a:solidFill>
              </a:defRPr>
            </a:lvl7pPr>
            <a:lvl8pPr algn="ctr">
              <a:defRPr sz="1725" b="1">
                <a:solidFill>
                  <a:srgbClr val="167D8D"/>
                </a:solidFill>
              </a:defRPr>
            </a:lvl8pPr>
            <a:lvl9pPr algn="ctr">
              <a:defRPr sz="17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52C09-816C-4EE5-8DF6-FF76E9B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92A3A"/>
                </a:solidFill>
              </a:defRPr>
            </a:defPPr>
            <a:lvl1pPr algn="ctr">
              <a:defRPr sz="1200" b="0">
                <a:solidFill>
                  <a:srgbClr val="192A3A"/>
                </a:solidFill>
              </a:defRPr>
            </a:lvl1pPr>
            <a:lvl2pPr algn="ctr">
              <a:defRPr sz="1200" b="0">
                <a:solidFill>
                  <a:srgbClr val="192A3A"/>
                </a:solidFill>
              </a:defRPr>
            </a:lvl2pPr>
            <a:lvl3pPr algn="ctr">
              <a:defRPr sz="1200" b="0">
                <a:solidFill>
                  <a:srgbClr val="192A3A"/>
                </a:solidFill>
              </a:defRPr>
            </a:lvl3pPr>
            <a:lvl4pPr algn="ctr">
              <a:defRPr sz="1200" b="0">
                <a:solidFill>
                  <a:srgbClr val="192A3A"/>
                </a:solidFill>
              </a:defRPr>
            </a:lvl4pPr>
            <a:lvl5pPr algn="ctr">
              <a:defRPr sz="1200" b="0">
                <a:solidFill>
                  <a:srgbClr val="192A3A"/>
                </a:solidFill>
              </a:defRPr>
            </a:lvl5pPr>
            <a:lvl6pPr algn="ctr">
              <a:defRPr sz="1200" b="0">
                <a:solidFill>
                  <a:srgbClr val="192A3A"/>
                </a:solidFill>
              </a:defRPr>
            </a:lvl6pPr>
            <a:lvl7pPr algn="ctr">
              <a:defRPr sz="1200" b="0">
                <a:solidFill>
                  <a:srgbClr val="192A3A"/>
                </a:solidFill>
              </a:defRPr>
            </a:lvl7pPr>
            <a:lvl8pPr algn="ctr">
              <a:defRPr sz="1200" b="0">
                <a:solidFill>
                  <a:srgbClr val="192A3A"/>
                </a:solidFill>
              </a:defRPr>
            </a:lvl8pPr>
            <a:lvl9pPr algn="ctr">
              <a:defRPr sz="12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92A3A"/>
                </a:solidFill>
              </a:defRPr>
            </a:pPr>
            <a:r>
              <a:rPr sz="1200" b="0">
                <a:solidFill>
                  <a:srgbClr val="192A3A"/>
                </a:solidFill>
              </a:rPr>
              <a:t>loss fraction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A8787-F213-4DCA-BC71-89F6A062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19375"/>
            <a:ext cx="2076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A1324-5E61-4903-9275-915454F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714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</a:defRPr>
            </a:defPPr>
            <a:lvl1pPr algn="ctr">
              <a:defRPr sz="1725" b="1">
                <a:solidFill>
                  <a:srgbClr val="167D8D"/>
                </a:solidFill>
              </a:defRPr>
            </a:lvl1pPr>
            <a:lvl2pPr algn="ctr">
              <a:defRPr sz="1725" b="1">
                <a:solidFill>
                  <a:srgbClr val="167D8D"/>
                </a:solidFill>
              </a:defRPr>
            </a:lvl2pPr>
            <a:lvl3pPr algn="ctr">
              <a:defRPr sz="1725" b="1">
                <a:solidFill>
                  <a:srgbClr val="167D8D"/>
                </a:solidFill>
              </a:defRPr>
            </a:lvl3pPr>
            <a:lvl4pPr algn="ctr">
              <a:defRPr sz="1725" b="1">
                <a:solidFill>
                  <a:srgbClr val="167D8D"/>
                </a:solidFill>
              </a:defRPr>
            </a:lvl4pPr>
            <a:lvl5pPr algn="ctr">
              <a:defRPr sz="1725" b="1">
                <a:solidFill>
                  <a:srgbClr val="167D8D"/>
                </a:solidFill>
              </a:defRPr>
            </a:lvl5pPr>
            <a:lvl6pPr algn="ctr">
              <a:defRPr sz="1725" b="1">
                <a:solidFill>
                  <a:srgbClr val="167D8D"/>
                </a:solidFill>
              </a:defRPr>
            </a:lvl6pPr>
            <a:lvl7pPr algn="ctr">
              <a:defRPr sz="1725" b="1">
                <a:solidFill>
                  <a:srgbClr val="167D8D"/>
                </a:solidFill>
              </a:defRPr>
            </a:lvl7pPr>
            <a:lvl8pPr algn="ctr">
              <a:defRPr sz="1725" b="1">
                <a:solidFill>
                  <a:srgbClr val="167D8D"/>
                </a:solidFill>
              </a:defRPr>
            </a:lvl8pPr>
            <a:lvl9pPr algn="ctr">
              <a:defRPr sz="17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C6A3F-C758-487F-A29E-FB60395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0670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92A3A"/>
                </a:solidFill>
              </a:defRPr>
            </a:defPPr>
            <a:lvl1pPr algn="ctr">
              <a:defRPr sz="1200" b="0">
                <a:solidFill>
                  <a:srgbClr val="192A3A"/>
                </a:solidFill>
              </a:defRPr>
            </a:lvl1pPr>
            <a:lvl2pPr algn="ctr">
              <a:defRPr sz="1200" b="0">
                <a:solidFill>
                  <a:srgbClr val="192A3A"/>
                </a:solidFill>
              </a:defRPr>
            </a:lvl2pPr>
            <a:lvl3pPr algn="ctr">
              <a:defRPr sz="1200" b="0">
                <a:solidFill>
                  <a:srgbClr val="192A3A"/>
                </a:solidFill>
              </a:defRPr>
            </a:lvl3pPr>
            <a:lvl4pPr algn="ctr">
              <a:defRPr sz="1200" b="0">
                <a:solidFill>
                  <a:srgbClr val="192A3A"/>
                </a:solidFill>
              </a:defRPr>
            </a:lvl4pPr>
            <a:lvl5pPr algn="ctr">
              <a:defRPr sz="1200" b="0">
                <a:solidFill>
                  <a:srgbClr val="192A3A"/>
                </a:solidFill>
              </a:defRPr>
            </a:lvl5pPr>
            <a:lvl6pPr algn="ctr">
              <a:defRPr sz="1200" b="0">
                <a:solidFill>
                  <a:srgbClr val="192A3A"/>
                </a:solidFill>
              </a:defRPr>
            </a:lvl6pPr>
            <a:lvl7pPr algn="ctr">
              <a:defRPr sz="1200" b="0">
                <a:solidFill>
                  <a:srgbClr val="192A3A"/>
                </a:solidFill>
              </a:defRPr>
            </a:lvl7pPr>
            <a:lvl8pPr algn="ctr">
              <a:defRPr sz="1200" b="0">
                <a:solidFill>
                  <a:srgbClr val="192A3A"/>
                </a:solidFill>
              </a:defRPr>
            </a:lvl8pPr>
            <a:lvl9pPr algn="ctr">
              <a:defRPr sz="12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92A3A"/>
                </a:solidFill>
              </a:defRPr>
            </a:pPr>
            <a:r>
              <a:rPr sz="1200" b="0">
                <a:solidFill>
                  <a:srgbClr val="192A3A"/>
                </a:solidFill>
              </a:rPr>
              <a:t>delivered/offered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3FED1-E4D5-4CC1-A447-90EA6787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19375"/>
            <a:ext cx="2076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D7B1B-CDC3-4D67-BA35-28874C8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14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</a:defRPr>
            </a:defPPr>
            <a:lvl1pPr algn="ctr">
              <a:defRPr sz="1725" b="1">
                <a:solidFill>
                  <a:srgbClr val="167D8D"/>
                </a:solidFill>
              </a:defRPr>
            </a:lvl1pPr>
            <a:lvl2pPr algn="ctr">
              <a:defRPr sz="1725" b="1">
                <a:solidFill>
                  <a:srgbClr val="167D8D"/>
                </a:solidFill>
              </a:defRPr>
            </a:lvl2pPr>
            <a:lvl3pPr algn="ctr">
              <a:defRPr sz="1725" b="1">
                <a:solidFill>
                  <a:srgbClr val="167D8D"/>
                </a:solidFill>
              </a:defRPr>
            </a:lvl3pPr>
            <a:lvl4pPr algn="ctr">
              <a:defRPr sz="1725" b="1">
                <a:solidFill>
                  <a:srgbClr val="167D8D"/>
                </a:solidFill>
              </a:defRPr>
            </a:lvl4pPr>
            <a:lvl5pPr algn="ctr">
              <a:defRPr sz="1725" b="1">
                <a:solidFill>
                  <a:srgbClr val="167D8D"/>
                </a:solidFill>
              </a:defRPr>
            </a:lvl5pPr>
            <a:lvl6pPr algn="ctr">
              <a:defRPr sz="1725" b="1">
                <a:solidFill>
                  <a:srgbClr val="167D8D"/>
                </a:solidFill>
              </a:defRPr>
            </a:lvl6pPr>
            <a:lvl7pPr algn="ctr">
              <a:defRPr sz="1725" b="1">
                <a:solidFill>
                  <a:srgbClr val="167D8D"/>
                </a:solidFill>
              </a:defRPr>
            </a:lvl7pPr>
            <a:lvl8pPr algn="ctr">
              <a:defRPr sz="1725" b="1">
                <a:solidFill>
                  <a:srgbClr val="167D8D"/>
                </a:solidFill>
              </a:defRPr>
            </a:lvl8pPr>
            <a:lvl9pPr algn="ctr">
              <a:defRPr sz="17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9279D-A188-4071-8836-AA9CB0FC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92A3A"/>
                </a:solidFill>
              </a:defRPr>
            </a:defPPr>
            <a:lvl1pPr algn="ctr">
              <a:defRPr sz="1200" b="0">
                <a:solidFill>
                  <a:srgbClr val="192A3A"/>
                </a:solidFill>
              </a:defRPr>
            </a:lvl1pPr>
            <a:lvl2pPr algn="ctr">
              <a:defRPr sz="1200" b="0">
                <a:solidFill>
                  <a:srgbClr val="192A3A"/>
                </a:solidFill>
              </a:defRPr>
            </a:lvl2pPr>
            <a:lvl3pPr algn="ctr">
              <a:defRPr sz="1200" b="0">
                <a:solidFill>
                  <a:srgbClr val="192A3A"/>
                </a:solidFill>
              </a:defRPr>
            </a:lvl3pPr>
            <a:lvl4pPr algn="ctr">
              <a:defRPr sz="1200" b="0">
                <a:solidFill>
                  <a:srgbClr val="192A3A"/>
                </a:solidFill>
              </a:defRPr>
            </a:lvl4pPr>
            <a:lvl5pPr algn="ctr">
              <a:defRPr sz="1200" b="0">
                <a:solidFill>
                  <a:srgbClr val="192A3A"/>
                </a:solidFill>
              </a:defRPr>
            </a:lvl5pPr>
            <a:lvl6pPr algn="ctr">
              <a:defRPr sz="1200" b="0">
                <a:solidFill>
                  <a:srgbClr val="192A3A"/>
                </a:solidFill>
              </a:defRPr>
            </a:lvl6pPr>
            <a:lvl7pPr algn="ctr">
              <a:defRPr sz="1200" b="0">
                <a:solidFill>
                  <a:srgbClr val="192A3A"/>
                </a:solidFill>
              </a:defRPr>
            </a:lvl7pPr>
            <a:lvl8pPr algn="ctr">
              <a:defRPr sz="1200" b="0">
                <a:solidFill>
                  <a:srgbClr val="192A3A"/>
                </a:solidFill>
              </a:defRPr>
            </a:lvl8pPr>
            <a:lvl9pPr algn="ctr">
              <a:defRPr sz="12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92A3A"/>
                </a:solidFill>
              </a:defRPr>
            </a:pPr>
            <a:r>
              <a:rPr sz="1200" b="0">
                <a:solidFill>
                  <a:srgbClr val="192A3A"/>
                </a:solidFill>
              </a:rPr>
              <a:t>1 when route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09829-93AE-4DC3-B2BA-42286C13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19375"/>
            <a:ext cx="20764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75388-805D-4884-8E94-8A69B784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146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67D8D"/>
                </a:solidFill>
              </a:defRPr>
            </a:defPPr>
            <a:lvl1pPr algn="ctr">
              <a:defRPr sz="1725" b="1">
                <a:solidFill>
                  <a:srgbClr val="167D8D"/>
                </a:solidFill>
              </a:defRPr>
            </a:lvl1pPr>
            <a:lvl2pPr algn="ctr">
              <a:defRPr sz="1725" b="1">
                <a:solidFill>
                  <a:srgbClr val="167D8D"/>
                </a:solidFill>
              </a:defRPr>
            </a:lvl2pPr>
            <a:lvl3pPr algn="ctr">
              <a:defRPr sz="1725" b="1">
                <a:solidFill>
                  <a:srgbClr val="167D8D"/>
                </a:solidFill>
              </a:defRPr>
            </a:lvl3pPr>
            <a:lvl4pPr algn="ctr">
              <a:defRPr sz="1725" b="1">
                <a:solidFill>
                  <a:srgbClr val="167D8D"/>
                </a:solidFill>
              </a:defRPr>
            </a:lvl4pPr>
            <a:lvl5pPr algn="ctr">
              <a:defRPr sz="1725" b="1">
                <a:solidFill>
                  <a:srgbClr val="167D8D"/>
                </a:solidFill>
              </a:defRPr>
            </a:lvl5pPr>
            <a:lvl6pPr algn="ctr">
              <a:defRPr sz="1725" b="1">
                <a:solidFill>
                  <a:srgbClr val="167D8D"/>
                </a:solidFill>
              </a:defRPr>
            </a:lvl6pPr>
            <a:lvl7pPr algn="ctr">
              <a:defRPr sz="1725" b="1">
                <a:solidFill>
                  <a:srgbClr val="167D8D"/>
                </a:solidFill>
              </a:defRPr>
            </a:lvl7pPr>
            <a:lvl8pPr algn="ctr">
              <a:defRPr sz="1725" b="1">
                <a:solidFill>
                  <a:srgbClr val="167D8D"/>
                </a:solidFill>
              </a:defRPr>
            </a:lvl8pPr>
            <a:lvl9pPr algn="ctr">
              <a:defRPr sz="172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67D8D"/>
                </a:solidFill>
              </a:defRPr>
            </a:pPr>
            <a:r>
              <a:rPr sz="1725" b="1">
                <a:solidFill>
                  <a:srgbClr val="167D8D"/>
                </a:solidFill>
              </a:rPr>
              <a:t>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09AAB-9840-4AB3-9DF0-57F5AC2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0670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0">
                <a:solidFill>
                  <a:srgbClr val="192A3A"/>
                </a:solidFill>
              </a:defRPr>
            </a:defPPr>
            <a:lvl1pPr algn="ctr">
              <a:defRPr sz="1200" b="0">
                <a:solidFill>
                  <a:srgbClr val="192A3A"/>
                </a:solidFill>
              </a:defRPr>
            </a:lvl1pPr>
            <a:lvl2pPr algn="ctr">
              <a:defRPr sz="1200" b="0">
                <a:solidFill>
                  <a:srgbClr val="192A3A"/>
                </a:solidFill>
              </a:defRPr>
            </a:lvl2pPr>
            <a:lvl3pPr algn="ctr">
              <a:defRPr sz="1200" b="0">
                <a:solidFill>
                  <a:srgbClr val="192A3A"/>
                </a:solidFill>
              </a:defRPr>
            </a:lvl3pPr>
            <a:lvl4pPr algn="ctr">
              <a:defRPr sz="1200" b="0">
                <a:solidFill>
                  <a:srgbClr val="192A3A"/>
                </a:solidFill>
              </a:defRPr>
            </a:lvl4pPr>
            <a:lvl5pPr algn="ctr">
              <a:defRPr sz="1200" b="0">
                <a:solidFill>
                  <a:srgbClr val="192A3A"/>
                </a:solidFill>
              </a:defRPr>
            </a:lvl5pPr>
            <a:lvl6pPr algn="ctr">
              <a:defRPr sz="1200" b="0">
                <a:solidFill>
                  <a:srgbClr val="192A3A"/>
                </a:solidFill>
              </a:defRPr>
            </a:lvl6pPr>
            <a:lvl7pPr algn="ctr">
              <a:defRPr sz="1200" b="0">
                <a:solidFill>
                  <a:srgbClr val="192A3A"/>
                </a:solidFill>
              </a:defRPr>
            </a:lvl7pPr>
            <a:lvl8pPr algn="ctr">
              <a:defRPr sz="1200" b="0">
                <a:solidFill>
                  <a:srgbClr val="192A3A"/>
                </a:solidFill>
              </a:defRPr>
            </a:lvl8pPr>
            <a:lvl9pPr algn="ctr">
              <a:defRPr sz="120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92A3A"/>
                </a:solidFill>
              </a:defRPr>
            </a:pPr>
            <a:r>
              <a:rPr sz="1200" b="0">
                <a:solidFill>
                  <a:srgbClr val="192A3A"/>
                </a:solidFill>
              </a:rPr>
              <a:t>hops / max hops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98D2A-EB9D-4C5F-8477-F34CCC9E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17324D"/>
                </a:solidFill>
              </a:defRPr>
            </a:defPPr>
            <a:lvl1pPr algn="ctr">
              <a:defRPr sz="1725" b="1">
                <a:solidFill>
                  <a:srgbClr val="17324D"/>
                </a:solidFill>
              </a:defRPr>
            </a:lvl1pPr>
            <a:lvl2pPr algn="ctr">
              <a:defRPr sz="1725" b="1">
                <a:solidFill>
                  <a:srgbClr val="17324D"/>
                </a:solidFill>
              </a:defRPr>
            </a:lvl2pPr>
            <a:lvl3pPr algn="ctr">
              <a:defRPr sz="1725" b="1">
                <a:solidFill>
                  <a:srgbClr val="17324D"/>
                </a:solidFill>
              </a:defRPr>
            </a:lvl3pPr>
            <a:lvl4pPr algn="ctr">
              <a:defRPr sz="1725" b="1">
                <a:solidFill>
                  <a:srgbClr val="17324D"/>
                </a:solidFill>
              </a:defRPr>
            </a:lvl4pPr>
            <a:lvl5pPr algn="ctr">
              <a:defRPr sz="1725" b="1">
                <a:solidFill>
                  <a:srgbClr val="17324D"/>
                </a:solidFill>
              </a:defRPr>
            </a:lvl5pPr>
            <a:lvl6pPr algn="ctr">
              <a:defRPr sz="1725" b="1">
                <a:solidFill>
                  <a:srgbClr val="17324D"/>
                </a:solidFill>
              </a:defRPr>
            </a:lvl6pPr>
            <a:lvl7pPr algn="ctr">
              <a:defRPr sz="1725" b="1">
                <a:solidFill>
                  <a:srgbClr val="17324D"/>
                </a:solidFill>
              </a:defRPr>
            </a:lvl7pPr>
            <a:lvl8pPr algn="ctr">
              <a:defRPr sz="1725" b="1">
                <a:solidFill>
                  <a:srgbClr val="17324D"/>
                </a:solidFill>
              </a:defRPr>
            </a:lvl8pPr>
            <a:lvl9pPr algn="ctr">
              <a:defRPr sz="17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PRESTO-R λ = 0.5 → each route change costs 0.5 reward 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2B0B0-44DD-4749-8A89-A1ABA6E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526579"/>
                </a:solidFill>
              </a:defRPr>
            </a:defPPr>
            <a:lvl1pPr algn="ctr">
              <a:defRPr sz="1425" b="0">
                <a:solidFill>
                  <a:srgbClr val="526579"/>
                </a:solidFill>
              </a:defRPr>
            </a:lvl1pPr>
            <a:lvl2pPr algn="ctr">
              <a:defRPr sz="1425" b="0">
                <a:solidFill>
                  <a:srgbClr val="526579"/>
                </a:solidFill>
              </a:defRPr>
            </a:lvl2pPr>
            <a:lvl3pPr algn="ctr">
              <a:defRPr sz="1425" b="0">
                <a:solidFill>
                  <a:srgbClr val="526579"/>
                </a:solidFill>
              </a:defRPr>
            </a:lvl3pPr>
            <a:lvl4pPr algn="ctr">
              <a:defRPr sz="1425" b="0">
                <a:solidFill>
                  <a:srgbClr val="526579"/>
                </a:solidFill>
              </a:defRPr>
            </a:lvl4pPr>
            <a:lvl5pPr algn="ctr">
              <a:defRPr sz="1425" b="0">
                <a:solidFill>
                  <a:srgbClr val="526579"/>
                </a:solidFill>
              </a:defRPr>
            </a:lvl5pPr>
            <a:lvl6pPr algn="ctr">
              <a:defRPr sz="1425" b="0">
                <a:solidFill>
                  <a:srgbClr val="526579"/>
                </a:solidFill>
              </a:defRPr>
            </a:lvl6pPr>
            <a:lvl7pPr algn="ctr">
              <a:defRPr sz="1425" b="0">
                <a:solidFill>
                  <a:srgbClr val="526579"/>
                </a:solidFill>
              </a:defRPr>
            </a:lvl7pPr>
            <a:lvl8pPr algn="ctr">
              <a:defRPr sz="1425" b="0">
                <a:solidFill>
                  <a:srgbClr val="526579"/>
                </a:solidFill>
              </a:defRPr>
            </a:lvl8pPr>
            <a:lvl9pPr algn="ctr">
              <a:defRPr sz="1425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26579"/>
                </a:solidFill>
              </a:defRPr>
            </a:pPr>
            <a:r>
              <a:rPr sz="1425" b="0">
                <a:solidFill>
                  <a:srgbClr val="526579"/>
                </a:solidFill>
              </a:rPr>
              <a:t>Too little: route flapping. Too much: may stay on a failing path.</a:t>
            </a:r>
          </a:p>
        </p:txBody>
      </p:sp>
    </p:spTree>
    <p:extLst>
      <p:ext uri="{BB962C8B-B14F-4D97-AF65-F5344CB8AC3E}">
        <p14:creationId xmlns:p14="http://schemas.microsoft.com/office/powerpoint/2010/main" val="2043158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27395-38C1-4941-B338-61E34C0E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What was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43B2D-35E4-4D1B-85C3-E88A7D9E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Checks cover components, learned behavior, and final comparisons.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BB940-116B-4FC4-B964-074660E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5590C-7B63-4B25-9681-CF0AA46C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85C56-64BB-40D4-B918-B6C8050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811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Unit/integration checks: topology, simulator, failures, telemetry, state, reward, environment.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34E42-D2E2-4E70-A098-34745B56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B5B7-6799-42EB-BBA0-559957DA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193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Predictor checks: split leakage, output shape, save/load, held-out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1C301-9B1C-49AC-84A5-91CE185E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C2F62-BB86-4CFD-BACC-EE2195C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Policy checks: heuristic choices, deterministic rollouts, training smoke, risk-use diagnostic.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67B6A-3DA9-48D4-9945-340FBC7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B95FC-D2F6-4AED-81FA-B6A06002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Experiment checks: held-out grid, paired statistics, robustness, rerun hashes.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960B9-A437-4861-B8CB-08D19ACD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440C5-507C-4BEE-BA59-E38D77DF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339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Release checkpoint records 74 tests; a later Phase 5 note records 97 tests.</a:t>
            </a:r>
          </a:p>
        </p:txBody>
      </p:sp>
    </p:spTree>
    <p:extLst>
      <p:ext uri="{BB962C8B-B14F-4D97-AF65-F5344CB8AC3E}">
        <p14:creationId xmlns:p14="http://schemas.microsoft.com/office/powerpoint/2010/main" val="1563638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C0034-8908-4AB1-A1BC-4DFBADAE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Phase 5 — Held-out experiment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D1998-185D-4758-8F72-A33443B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Methods see the same scenarios for fair paired comparisons.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378F6-DA45-42E8-9DE5-BD3A2782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97F2D-0CB0-4CF8-93FD-7E9EDF6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9EDD0-7A5D-46A7-B44B-D8CEE293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811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2 topologies × 5 scenarios × 200 held-out seeds per scenario/topology.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DE894-2DED-4E5E-8BD5-CD3A2B3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9610D-5F78-4BEE-91CD-52654A18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193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Test seeds 10000–10199; λ tuned on validation, not test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F94A9-7553-4037-A98A-BCE2A575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AE5DC-9869-46BB-A06E-7C7C3F5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5 training seeds for learned NSFNET agents; 3 for RGG agents.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9EB07-FA33-4145-A3B6-9423E3EA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46F59-BC93-45D2-862C-7EDCA8A4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38,400 episode-metric rows; Wilcoxon tests with Holm correction.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0A24B-5771-4305-8A19-A6EC0833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0801B-469D-46E2-BCEC-DC88D2D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33925"/>
            <a:ext cx="1007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Also tested horizons H=3/H=10, 2× noise, +50% load, and sudden failures.</a:t>
            </a:r>
          </a:p>
        </p:txBody>
      </p:sp>
    </p:spTree>
    <p:extLst>
      <p:ext uri="{BB962C8B-B14F-4D97-AF65-F5344CB8AC3E}">
        <p14:creationId xmlns:p14="http://schemas.microsoft.com/office/powerpoint/2010/main" val="7647926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77331-25AC-4622-9833-C038646E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Main result — fewer switches, similar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C04A5-6F1A-4F86-9EA2-5AF6CC9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NSFNET • mixed scenario • held-out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B0C1D-CCD6-43F8-9AEB-868A1E96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B410B-E277-4515-AB3A-ED1C5EA0A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5a5ee49644d99"/>
          <a:stretch xmlns:a="http://schemas.openxmlformats.org/drawingml/2006/main"/>
        </p:blipFill>
        <p:spPr>
          <a:xfrm xmlns:a="http://schemas.openxmlformats.org/drawingml/2006/main">
            <a:off x="666750" y="2275098"/>
            <a:ext cx="7239000" cy="22125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B8711-4168-49EB-8F24-A7C967B6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10DAA-86AA-4B3D-BBFF-053E1BD9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324D"/>
                </a:solidFill>
              </a:defRPr>
            </a:defPPr>
            <a:lvl1pPr algn="ctr">
              <a:defRPr sz="1425" b="1">
                <a:solidFill>
                  <a:srgbClr val="17324D"/>
                </a:solidFill>
              </a:defRPr>
            </a:lvl1pPr>
            <a:lvl2pPr algn="ctr">
              <a:defRPr sz="1425" b="1">
                <a:solidFill>
                  <a:srgbClr val="17324D"/>
                </a:solidFill>
              </a:defRPr>
            </a:lvl2pPr>
            <a:lvl3pPr algn="ctr">
              <a:defRPr sz="1425" b="1">
                <a:solidFill>
                  <a:srgbClr val="17324D"/>
                </a:solidFill>
              </a:defRPr>
            </a:lvl3pPr>
            <a:lvl4pPr algn="ctr">
              <a:defRPr sz="1425" b="1">
                <a:solidFill>
                  <a:srgbClr val="17324D"/>
                </a:solidFill>
              </a:defRPr>
            </a:lvl4pPr>
            <a:lvl5pPr algn="ctr">
              <a:defRPr sz="1425" b="1">
                <a:solidFill>
                  <a:srgbClr val="17324D"/>
                </a:solidFill>
              </a:defRPr>
            </a:lvl5pPr>
            <a:lvl6pPr algn="ctr">
              <a:defRPr sz="1425" b="1">
                <a:solidFill>
                  <a:srgbClr val="17324D"/>
                </a:solidFill>
              </a:defRPr>
            </a:lvl6pPr>
            <a:lvl7pPr algn="ctr">
              <a:defRPr sz="1425" b="1">
                <a:solidFill>
                  <a:srgbClr val="17324D"/>
                </a:solidFill>
              </a:defRPr>
            </a:lvl7pPr>
            <a:lvl8pPr algn="ctr">
              <a:defRPr sz="1425" b="1">
                <a:solidFill>
                  <a:srgbClr val="17324D"/>
                </a:solidFill>
              </a:defRPr>
            </a:lvl8pPr>
            <a:lvl9pPr algn="ctr">
              <a:defRPr sz="14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PDR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Reactive 0.9619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Predictive 0.9608</a:t>
            </a:r>
          </a:p>
          <a:p xmlns:a="http://schemas.openxmlformats.org/drawingml/2006/main">
            <a:pPr algn="ctr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PRESTO-R 0.9625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179D4-64AE-4F13-9C14-69F0DD5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238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EFF4"/>
          </a:solidFill>
          <a:ln xmlns:a="http://schemas.openxmlformats.org/drawingml/2006/main" w="9525">
            <a:solidFill>
              <a:srgbClr val="CFDC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14BA6-295C-494A-BDC5-B12E056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67125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324D"/>
                </a:solidFill>
              </a:defRPr>
            </a:defPPr>
            <a:lvl1pPr algn="ctr">
              <a:defRPr sz="1350" b="1">
                <a:solidFill>
                  <a:srgbClr val="17324D"/>
                </a:solidFill>
              </a:defRPr>
            </a:lvl1pPr>
            <a:lvl2pPr algn="ctr">
              <a:defRPr sz="1350" b="1">
                <a:solidFill>
                  <a:srgbClr val="17324D"/>
                </a:solidFill>
              </a:defRPr>
            </a:lvl2pPr>
            <a:lvl3pPr algn="ctr">
              <a:defRPr sz="1350" b="1">
                <a:solidFill>
                  <a:srgbClr val="17324D"/>
                </a:solidFill>
              </a:defRPr>
            </a:lvl3pPr>
            <a:lvl4pPr algn="ctr">
              <a:defRPr sz="1350" b="1">
                <a:solidFill>
                  <a:srgbClr val="17324D"/>
                </a:solidFill>
              </a:defRPr>
            </a:lvl4pPr>
            <a:lvl5pPr algn="ctr">
              <a:defRPr sz="1350" b="1">
                <a:solidFill>
                  <a:srgbClr val="17324D"/>
                </a:solidFill>
              </a:defRPr>
            </a:lvl5pPr>
            <a:lvl6pPr algn="ctr">
              <a:defRPr sz="1350" b="1">
                <a:solidFill>
                  <a:srgbClr val="17324D"/>
                </a:solidFill>
              </a:defRPr>
            </a:lvl6pPr>
            <a:lvl7pPr algn="ctr">
              <a:defRPr sz="1350" b="1">
                <a:solidFill>
                  <a:srgbClr val="17324D"/>
                </a:solidFill>
              </a:defRPr>
            </a:lvl7pPr>
            <a:lvl8pPr algn="ctr">
              <a:defRPr sz="1350" b="1">
                <a:solidFill>
                  <a:srgbClr val="17324D"/>
                </a:solidFill>
              </a:defRPr>
            </a:lvl8pPr>
            <a:lvl9pPr algn="ctr">
              <a:defRPr sz="13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Switches / episode</a:t>
            </a:r>
          </a:p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Reactive 18.799</a:t>
            </a:r>
          </a:p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Predictive 20.988</a:t>
            </a:r>
          </a:p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PRESTO-R 5.197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FFE7-32A7-4316-825A-3A061B2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67D8D"/>
                </a:solidFill>
              </a:defRPr>
            </a:defPPr>
            <a:lvl1pPr algn="ctr">
              <a:defRPr sz="1575" b="1">
                <a:solidFill>
                  <a:srgbClr val="167D8D"/>
                </a:solidFill>
              </a:defRPr>
            </a:lvl1pPr>
            <a:lvl2pPr algn="ctr">
              <a:defRPr sz="1575" b="1">
                <a:solidFill>
                  <a:srgbClr val="167D8D"/>
                </a:solidFill>
              </a:defRPr>
            </a:lvl2pPr>
            <a:lvl3pPr algn="ctr">
              <a:defRPr sz="1575" b="1">
                <a:solidFill>
                  <a:srgbClr val="167D8D"/>
                </a:solidFill>
              </a:defRPr>
            </a:lvl3pPr>
            <a:lvl4pPr algn="ctr">
              <a:defRPr sz="1575" b="1">
                <a:solidFill>
                  <a:srgbClr val="167D8D"/>
                </a:solidFill>
              </a:defRPr>
            </a:lvl4pPr>
            <a:lvl5pPr algn="ctr">
              <a:defRPr sz="1575" b="1">
                <a:solidFill>
                  <a:srgbClr val="167D8D"/>
                </a:solidFill>
              </a:defRPr>
            </a:lvl5pPr>
            <a:lvl6pPr algn="ctr">
              <a:defRPr sz="1575" b="1">
                <a:solidFill>
                  <a:srgbClr val="167D8D"/>
                </a:solidFill>
              </a:defRPr>
            </a:lvl6pPr>
            <a:lvl7pPr algn="ctr">
              <a:defRPr sz="1575" b="1">
                <a:solidFill>
                  <a:srgbClr val="167D8D"/>
                </a:solidFill>
              </a:defRPr>
            </a:lvl7pPr>
            <a:lvl8pPr algn="ctr">
              <a:defRPr sz="1575" b="1">
                <a:solidFill>
                  <a:srgbClr val="167D8D"/>
                </a:solidFill>
              </a:defRPr>
            </a:lvl8pPr>
            <a:lvl9pPr algn="ctr">
              <a:defRPr sz="1575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67D8D"/>
                </a:solidFill>
              </a:defRPr>
            </a:pPr>
            <a:r>
              <a:rPr sz="1575" b="1">
                <a:solidFill>
                  <a:srgbClr val="167D8D"/>
                </a:solidFill>
              </a:rPr>
              <a:t>75.2% fewer switches than Predictive DQN; PDR difference +0.0017.</a:t>
            </a:r>
          </a:p>
        </p:txBody>
      </p:sp>
    </p:spTree>
    <p:extLst>
      <p:ext uri="{BB962C8B-B14F-4D97-AF65-F5344CB8AC3E}">
        <p14:creationId xmlns:p14="http://schemas.microsoft.com/office/powerpoint/2010/main" val="20286954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3160C-EA83-4778-8503-27798C84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Success criteria — mixed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6F43F-DE76-48C1-98AD-32C5C45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The final report includes passes and failures.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44AA5-F539-47E7-AECE-80758E5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A4832-029C-44D5-88CD-566FAF24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324D"/>
                </a:solidFill>
              </a:defRPr>
            </a:defPPr>
            <a:lvl1pPr algn="l">
              <a:defRPr sz="1425" b="1">
                <a:solidFill>
                  <a:srgbClr val="17324D"/>
                </a:solidFill>
              </a:defRPr>
            </a:lvl1pPr>
            <a:lvl2pPr algn="l">
              <a:defRPr sz="1425" b="1">
                <a:solidFill>
                  <a:srgbClr val="17324D"/>
                </a:solidFill>
              </a:defRPr>
            </a:lvl2pPr>
            <a:lvl3pPr algn="l">
              <a:defRPr sz="1425" b="1">
                <a:solidFill>
                  <a:srgbClr val="17324D"/>
                </a:solidFill>
              </a:defRPr>
            </a:lvl3pPr>
            <a:lvl4pPr algn="l">
              <a:defRPr sz="1425" b="1">
                <a:solidFill>
                  <a:srgbClr val="17324D"/>
                </a:solidFill>
              </a:defRPr>
            </a:lvl4pPr>
            <a:lvl5pPr algn="l">
              <a:defRPr sz="1425" b="1">
                <a:solidFill>
                  <a:srgbClr val="17324D"/>
                </a:solidFill>
              </a:defRPr>
            </a:lvl5pPr>
            <a:lvl6pPr algn="l">
              <a:defRPr sz="1425" b="1">
                <a:solidFill>
                  <a:srgbClr val="17324D"/>
                </a:solidFill>
              </a:defRPr>
            </a:lvl6pPr>
            <a:lvl7pPr algn="l">
              <a:defRPr sz="1425" b="1">
                <a:solidFill>
                  <a:srgbClr val="17324D"/>
                </a:solidFill>
              </a:defRPr>
            </a:lvl7pPr>
            <a:lvl8pPr algn="l">
              <a:defRPr sz="1425" b="1">
                <a:solidFill>
                  <a:srgbClr val="17324D"/>
                </a:solidFill>
              </a:defRPr>
            </a:lvl8pPr>
            <a:lvl9pPr algn="l">
              <a:defRPr sz="14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Switching vs predictive DQN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06B06-F289-4627-B1C9-8074EC2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33500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DDEF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A1682-B7DD-4FF4-B5A0-B2193720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716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F805D"/>
                </a:solidFill>
              </a:defRPr>
            </a:defPPr>
            <a:lvl1pPr algn="ctr">
              <a:defRPr sz="1350" b="1">
                <a:solidFill>
                  <a:srgbClr val="2F805D"/>
                </a:solidFill>
              </a:defRPr>
            </a:lvl1pPr>
            <a:lvl2pPr algn="ctr">
              <a:defRPr sz="1350" b="1">
                <a:solidFill>
                  <a:srgbClr val="2F805D"/>
                </a:solidFill>
              </a:defRPr>
            </a:lvl2pPr>
            <a:lvl3pPr algn="ctr">
              <a:defRPr sz="1350" b="1">
                <a:solidFill>
                  <a:srgbClr val="2F805D"/>
                </a:solidFill>
              </a:defRPr>
            </a:lvl3pPr>
            <a:lvl4pPr algn="ctr">
              <a:defRPr sz="1350" b="1">
                <a:solidFill>
                  <a:srgbClr val="2F805D"/>
                </a:solidFill>
              </a:defRPr>
            </a:lvl4pPr>
            <a:lvl5pPr algn="ctr">
              <a:defRPr sz="1350" b="1">
                <a:solidFill>
                  <a:srgbClr val="2F805D"/>
                </a:solidFill>
              </a:defRPr>
            </a:lvl5pPr>
            <a:lvl6pPr algn="ctr">
              <a:defRPr sz="1350" b="1">
                <a:solidFill>
                  <a:srgbClr val="2F805D"/>
                </a:solidFill>
              </a:defRPr>
            </a:lvl6pPr>
            <a:lvl7pPr algn="ctr">
              <a:defRPr sz="1350" b="1">
                <a:solidFill>
                  <a:srgbClr val="2F805D"/>
                </a:solidFill>
              </a:defRPr>
            </a:lvl7pPr>
            <a:lvl8pPr algn="ctr">
              <a:defRPr sz="1350" b="1">
                <a:solidFill>
                  <a:srgbClr val="2F805D"/>
                </a:solidFill>
              </a:defRPr>
            </a:lvl8pPr>
            <a:lvl9pPr algn="ctr">
              <a:defRPr sz="1350" b="1">
                <a:solidFill>
                  <a:srgbClr val="2F805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F805D"/>
                </a:solidFill>
              </a:defRPr>
            </a:pPr>
            <a:r>
              <a:rPr sz="1350" b="1">
                <a:solidFill>
                  <a:srgbClr val="2F805D"/>
                </a:solidFill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E08AF-49F9-46B0-A86B-12FB96E3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335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2A3A"/>
                </a:solidFill>
              </a:defRPr>
            </a:defPPr>
            <a:lvl1pPr algn="l">
              <a:defRPr sz="1350" b="0">
                <a:solidFill>
                  <a:srgbClr val="192A3A"/>
                </a:solidFill>
              </a:defRPr>
            </a:lvl1pPr>
            <a:lvl2pPr algn="l">
              <a:defRPr sz="1350" b="0">
                <a:solidFill>
                  <a:srgbClr val="192A3A"/>
                </a:solidFill>
              </a:defRPr>
            </a:lvl2pPr>
            <a:lvl3pPr algn="l">
              <a:defRPr sz="1350" b="0">
                <a:solidFill>
                  <a:srgbClr val="192A3A"/>
                </a:solidFill>
              </a:defRPr>
            </a:lvl3pPr>
            <a:lvl4pPr algn="l">
              <a:defRPr sz="1350" b="0">
                <a:solidFill>
                  <a:srgbClr val="192A3A"/>
                </a:solidFill>
              </a:defRPr>
            </a:lvl4pPr>
            <a:lvl5pPr algn="l">
              <a:defRPr sz="1350" b="0">
                <a:solidFill>
                  <a:srgbClr val="192A3A"/>
                </a:solidFill>
              </a:defRPr>
            </a:lvl5pPr>
            <a:lvl6pPr algn="l">
              <a:defRPr sz="1350" b="0">
                <a:solidFill>
                  <a:srgbClr val="192A3A"/>
                </a:solidFill>
              </a:defRPr>
            </a:lvl6pPr>
            <a:lvl7pPr algn="l">
              <a:defRPr sz="1350" b="0">
                <a:solidFill>
                  <a:srgbClr val="192A3A"/>
                </a:solidFill>
              </a:defRPr>
            </a:lvl7pPr>
            <a:lvl8pPr algn="l">
              <a:defRPr sz="1350" b="0">
                <a:solidFill>
                  <a:srgbClr val="192A3A"/>
                </a:solidFill>
              </a:defRPr>
            </a:lvl8pPr>
            <a:lvl9pPr algn="l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mixed + fluctuation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11788-70AA-4E73-ABF7-24574EA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324D"/>
                </a:solidFill>
              </a:defRPr>
            </a:defPPr>
            <a:lvl1pPr algn="l">
              <a:defRPr sz="1425" b="1">
                <a:solidFill>
                  <a:srgbClr val="17324D"/>
                </a:solidFill>
              </a:defRPr>
            </a:lvl1pPr>
            <a:lvl2pPr algn="l">
              <a:defRPr sz="1425" b="1">
                <a:solidFill>
                  <a:srgbClr val="17324D"/>
                </a:solidFill>
              </a:defRPr>
            </a:lvl2pPr>
            <a:lvl3pPr algn="l">
              <a:defRPr sz="1425" b="1">
                <a:solidFill>
                  <a:srgbClr val="17324D"/>
                </a:solidFill>
              </a:defRPr>
            </a:lvl3pPr>
            <a:lvl4pPr algn="l">
              <a:defRPr sz="1425" b="1">
                <a:solidFill>
                  <a:srgbClr val="17324D"/>
                </a:solidFill>
              </a:defRPr>
            </a:lvl4pPr>
            <a:lvl5pPr algn="l">
              <a:defRPr sz="1425" b="1">
                <a:solidFill>
                  <a:srgbClr val="17324D"/>
                </a:solidFill>
              </a:defRPr>
            </a:lvl5pPr>
            <a:lvl6pPr algn="l">
              <a:defRPr sz="1425" b="1">
                <a:solidFill>
                  <a:srgbClr val="17324D"/>
                </a:solidFill>
              </a:defRPr>
            </a:lvl6pPr>
            <a:lvl7pPr algn="l">
              <a:defRPr sz="1425" b="1">
                <a:solidFill>
                  <a:srgbClr val="17324D"/>
                </a:solidFill>
              </a:defRPr>
            </a:lvl7pPr>
            <a:lvl8pPr algn="l">
              <a:defRPr sz="1425" b="1">
                <a:solidFill>
                  <a:srgbClr val="17324D"/>
                </a:solidFill>
              </a:defRPr>
            </a:lvl8pPr>
            <a:lvl9pPr algn="l">
              <a:defRPr sz="14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Steady delay ≤110% of reactive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A67D9-6794-4A4A-AC58-E2BA537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38375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DDEF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1E7E1-ED56-4F4A-B6A7-6935F1A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7647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F805D"/>
                </a:solidFill>
              </a:defRPr>
            </a:defPPr>
            <a:lvl1pPr algn="ctr">
              <a:defRPr sz="1350" b="1">
                <a:solidFill>
                  <a:srgbClr val="2F805D"/>
                </a:solidFill>
              </a:defRPr>
            </a:lvl1pPr>
            <a:lvl2pPr algn="ctr">
              <a:defRPr sz="1350" b="1">
                <a:solidFill>
                  <a:srgbClr val="2F805D"/>
                </a:solidFill>
              </a:defRPr>
            </a:lvl2pPr>
            <a:lvl3pPr algn="ctr">
              <a:defRPr sz="1350" b="1">
                <a:solidFill>
                  <a:srgbClr val="2F805D"/>
                </a:solidFill>
              </a:defRPr>
            </a:lvl3pPr>
            <a:lvl4pPr algn="ctr">
              <a:defRPr sz="1350" b="1">
                <a:solidFill>
                  <a:srgbClr val="2F805D"/>
                </a:solidFill>
              </a:defRPr>
            </a:lvl4pPr>
            <a:lvl5pPr algn="ctr">
              <a:defRPr sz="1350" b="1">
                <a:solidFill>
                  <a:srgbClr val="2F805D"/>
                </a:solidFill>
              </a:defRPr>
            </a:lvl5pPr>
            <a:lvl6pPr algn="ctr">
              <a:defRPr sz="1350" b="1">
                <a:solidFill>
                  <a:srgbClr val="2F805D"/>
                </a:solidFill>
              </a:defRPr>
            </a:lvl6pPr>
            <a:lvl7pPr algn="ctr">
              <a:defRPr sz="1350" b="1">
                <a:solidFill>
                  <a:srgbClr val="2F805D"/>
                </a:solidFill>
              </a:defRPr>
            </a:lvl7pPr>
            <a:lvl8pPr algn="ctr">
              <a:defRPr sz="1350" b="1">
                <a:solidFill>
                  <a:srgbClr val="2F805D"/>
                </a:solidFill>
              </a:defRPr>
            </a:lvl8pPr>
            <a:lvl9pPr algn="ctr">
              <a:defRPr sz="1350" b="1">
                <a:solidFill>
                  <a:srgbClr val="2F805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F805D"/>
                </a:solidFill>
              </a:defRPr>
            </a:pPr>
            <a:r>
              <a:rPr sz="1350" b="1">
                <a:solidFill>
                  <a:srgbClr val="2F805D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149C0-1ECA-428E-B887-474FF165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2A3A"/>
                </a:solidFill>
              </a:defRPr>
            </a:defPPr>
            <a:lvl1pPr algn="l">
              <a:defRPr sz="1350" b="0">
                <a:solidFill>
                  <a:srgbClr val="192A3A"/>
                </a:solidFill>
              </a:defRPr>
            </a:lvl1pPr>
            <a:lvl2pPr algn="l">
              <a:defRPr sz="1350" b="0">
                <a:solidFill>
                  <a:srgbClr val="192A3A"/>
                </a:solidFill>
              </a:defRPr>
            </a:lvl2pPr>
            <a:lvl3pPr algn="l">
              <a:defRPr sz="1350" b="0">
                <a:solidFill>
                  <a:srgbClr val="192A3A"/>
                </a:solidFill>
              </a:defRPr>
            </a:lvl3pPr>
            <a:lvl4pPr algn="l">
              <a:defRPr sz="1350" b="0">
                <a:solidFill>
                  <a:srgbClr val="192A3A"/>
                </a:solidFill>
              </a:defRPr>
            </a:lvl4pPr>
            <a:lvl5pPr algn="l">
              <a:defRPr sz="1350" b="0">
                <a:solidFill>
                  <a:srgbClr val="192A3A"/>
                </a:solidFill>
              </a:defRPr>
            </a:lvl5pPr>
            <a:lvl6pPr algn="l">
              <a:defRPr sz="1350" b="0">
                <a:solidFill>
                  <a:srgbClr val="192A3A"/>
                </a:solidFill>
              </a:defRPr>
            </a:lvl6pPr>
            <a:lvl7pPr algn="l">
              <a:defRPr sz="1350" b="0">
                <a:solidFill>
                  <a:srgbClr val="192A3A"/>
                </a:solidFill>
              </a:defRPr>
            </a:lvl7pPr>
            <a:lvl8pPr algn="l">
              <a:defRPr sz="1350" b="0">
                <a:solidFill>
                  <a:srgbClr val="192A3A"/>
                </a:solidFill>
              </a:defRPr>
            </a:lvl8pPr>
            <a:lvl9pPr algn="l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46.28 ms vs 50.94 ms 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39D9A-308F-481C-AF25-33B26ABF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324D"/>
                </a:solidFill>
              </a:defRPr>
            </a:defPPr>
            <a:lvl1pPr algn="l">
              <a:defRPr sz="1425" b="1">
                <a:solidFill>
                  <a:srgbClr val="17324D"/>
                </a:solidFill>
              </a:defRPr>
            </a:lvl1pPr>
            <a:lvl2pPr algn="l">
              <a:defRPr sz="1425" b="1">
                <a:solidFill>
                  <a:srgbClr val="17324D"/>
                </a:solidFill>
              </a:defRPr>
            </a:lvl2pPr>
            <a:lvl3pPr algn="l">
              <a:defRPr sz="1425" b="1">
                <a:solidFill>
                  <a:srgbClr val="17324D"/>
                </a:solidFill>
              </a:defRPr>
            </a:lvl3pPr>
            <a:lvl4pPr algn="l">
              <a:defRPr sz="1425" b="1">
                <a:solidFill>
                  <a:srgbClr val="17324D"/>
                </a:solidFill>
              </a:defRPr>
            </a:lvl4pPr>
            <a:lvl5pPr algn="l">
              <a:defRPr sz="1425" b="1">
                <a:solidFill>
                  <a:srgbClr val="17324D"/>
                </a:solidFill>
              </a:defRPr>
            </a:lvl5pPr>
            <a:lvl6pPr algn="l">
              <a:defRPr sz="1425" b="1">
                <a:solidFill>
                  <a:srgbClr val="17324D"/>
                </a:solidFill>
              </a:defRPr>
            </a:lvl6pPr>
            <a:lvl7pPr algn="l">
              <a:defRPr sz="1425" b="1">
                <a:solidFill>
                  <a:srgbClr val="17324D"/>
                </a:solidFill>
              </a:defRPr>
            </a:lvl7pPr>
            <a:lvl8pPr algn="l">
              <a:defRPr sz="1425" b="1">
                <a:solidFill>
                  <a:srgbClr val="17324D"/>
                </a:solidFill>
              </a:defRPr>
            </a:lvl8pPr>
            <a:lvl9pPr algn="l">
              <a:defRPr sz="14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PDR + recovery vs reactive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E555B-EAE1-488E-B40F-BE4D422B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2E2"/>
          </a:solidFill>
          <a:ln xmlns:a="http://schemas.openxmlformats.org/drawingml/2006/main" w="9525">
            <a:solidFill>
              <a:srgbClr val="F4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B9F94-34ED-42E0-93F2-FA33FA7E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B54848"/>
                </a:solidFill>
              </a:defRPr>
            </a:defPPr>
            <a:lvl1pPr algn="ctr">
              <a:defRPr sz="1350" b="1">
                <a:solidFill>
                  <a:srgbClr val="B54848"/>
                </a:solidFill>
              </a:defRPr>
            </a:lvl1pPr>
            <a:lvl2pPr algn="ctr">
              <a:defRPr sz="1350" b="1">
                <a:solidFill>
                  <a:srgbClr val="B54848"/>
                </a:solidFill>
              </a:defRPr>
            </a:lvl2pPr>
            <a:lvl3pPr algn="ctr">
              <a:defRPr sz="1350" b="1">
                <a:solidFill>
                  <a:srgbClr val="B54848"/>
                </a:solidFill>
              </a:defRPr>
            </a:lvl3pPr>
            <a:lvl4pPr algn="ctr">
              <a:defRPr sz="1350" b="1">
                <a:solidFill>
                  <a:srgbClr val="B54848"/>
                </a:solidFill>
              </a:defRPr>
            </a:lvl4pPr>
            <a:lvl5pPr algn="ctr">
              <a:defRPr sz="1350" b="1">
                <a:solidFill>
                  <a:srgbClr val="B54848"/>
                </a:solidFill>
              </a:defRPr>
            </a:lvl5pPr>
            <a:lvl6pPr algn="ctr">
              <a:defRPr sz="1350" b="1">
                <a:solidFill>
                  <a:srgbClr val="B54848"/>
                </a:solidFill>
              </a:defRPr>
            </a:lvl6pPr>
            <a:lvl7pPr algn="ctr">
              <a:defRPr sz="1350" b="1">
                <a:solidFill>
                  <a:srgbClr val="B54848"/>
                </a:solidFill>
              </a:defRPr>
            </a:lvl7pPr>
            <a:lvl8pPr algn="ctr">
              <a:defRPr sz="1350" b="1">
                <a:solidFill>
                  <a:srgbClr val="B54848"/>
                </a:solidFill>
              </a:defRPr>
            </a:lvl8pPr>
            <a:lvl9pPr algn="ctr">
              <a:defRPr sz="1350" b="1">
                <a:solidFill>
                  <a:srgbClr val="B5484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54848"/>
                </a:solidFill>
              </a:defRPr>
            </a:pPr>
            <a:r>
              <a:rPr sz="1350" b="1">
                <a:solidFill>
                  <a:srgbClr val="B54848"/>
                </a:solidFill>
              </a:rPr>
              <a:t>FAIL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C04BF-E140-4304-904F-297C038D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4325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2A3A"/>
                </a:solidFill>
              </a:defRPr>
            </a:defPPr>
            <a:lvl1pPr algn="l">
              <a:defRPr sz="1350" b="0">
                <a:solidFill>
                  <a:srgbClr val="192A3A"/>
                </a:solidFill>
              </a:defRPr>
            </a:lvl1pPr>
            <a:lvl2pPr algn="l">
              <a:defRPr sz="1350" b="0">
                <a:solidFill>
                  <a:srgbClr val="192A3A"/>
                </a:solidFill>
              </a:defRPr>
            </a:lvl2pPr>
            <a:lvl3pPr algn="l">
              <a:defRPr sz="1350" b="0">
                <a:solidFill>
                  <a:srgbClr val="192A3A"/>
                </a:solidFill>
              </a:defRPr>
            </a:lvl3pPr>
            <a:lvl4pPr algn="l">
              <a:defRPr sz="1350" b="0">
                <a:solidFill>
                  <a:srgbClr val="192A3A"/>
                </a:solidFill>
              </a:defRPr>
            </a:lvl4pPr>
            <a:lvl5pPr algn="l">
              <a:defRPr sz="1350" b="0">
                <a:solidFill>
                  <a:srgbClr val="192A3A"/>
                </a:solidFill>
              </a:defRPr>
            </a:lvl5pPr>
            <a:lvl6pPr algn="l">
              <a:defRPr sz="1350" b="0">
                <a:solidFill>
                  <a:srgbClr val="192A3A"/>
                </a:solidFill>
              </a:defRPr>
            </a:lvl6pPr>
            <a:lvl7pPr algn="l">
              <a:defRPr sz="1350" b="0">
                <a:solidFill>
                  <a:srgbClr val="192A3A"/>
                </a:solidFill>
              </a:defRPr>
            </a:lvl7pPr>
            <a:lvl8pPr algn="l">
              <a:defRPr sz="1350" b="0">
                <a:solidFill>
                  <a:srgbClr val="192A3A"/>
                </a:solidFill>
              </a:defRPr>
            </a:lvl8pPr>
            <a:lvl9pPr algn="l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failure targets not fully met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D03C4-95D8-44FE-ABC7-F22B61E3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324D"/>
                </a:solidFill>
              </a:defRPr>
            </a:defPPr>
            <a:lvl1pPr algn="l">
              <a:defRPr sz="1425" b="1">
                <a:solidFill>
                  <a:srgbClr val="17324D"/>
                </a:solidFill>
              </a:defRPr>
            </a:lvl1pPr>
            <a:lvl2pPr algn="l">
              <a:defRPr sz="1425" b="1">
                <a:solidFill>
                  <a:srgbClr val="17324D"/>
                </a:solidFill>
              </a:defRPr>
            </a:lvl2pPr>
            <a:lvl3pPr algn="l">
              <a:defRPr sz="1425" b="1">
                <a:solidFill>
                  <a:srgbClr val="17324D"/>
                </a:solidFill>
              </a:defRPr>
            </a:lvl3pPr>
            <a:lvl4pPr algn="l">
              <a:defRPr sz="1425" b="1">
                <a:solidFill>
                  <a:srgbClr val="17324D"/>
                </a:solidFill>
              </a:defRPr>
            </a:lvl4pPr>
            <a:lvl5pPr algn="l">
              <a:defRPr sz="1425" b="1">
                <a:solidFill>
                  <a:srgbClr val="17324D"/>
                </a:solidFill>
              </a:defRPr>
            </a:lvl5pPr>
            <a:lvl6pPr algn="l">
              <a:defRPr sz="1425" b="1">
                <a:solidFill>
                  <a:srgbClr val="17324D"/>
                </a:solidFill>
              </a:defRPr>
            </a:lvl6pPr>
            <a:lvl7pPr algn="l">
              <a:defRPr sz="1425" b="1">
                <a:solidFill>
                  <a:srgbClr val="17324D"/>
                </a:solidFill>
              </a:defRPr>
            </a:lvl7pPr>
            <a:lvl8pPr algn="l">
              <a:defRPr sz="1425" b="1">
                <a:solidFill>
                  <a:srgbClr val="17324D"/>
                </a:solidFill>
              </a:defRPr>
            </a:lvl8pPr>
            <a:lvl9pPr algn="l">
              <a:defRPr sz="14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Overall onset F1 ≥0.70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C1471-6CB8-4644-AC3C-3531B2A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48125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2E2"/>
          </a:solidFill>
          <a:ln xmlns:a="http://schemas.openxmlformats.org/drawingml/2006/main" w="9525">
            <a:solidFill>
              <a:srgbClr val="F4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6A808-4A0A-4A0D-BD92-A9A57DD1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862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B54848"/>
                </a:solidFill>
              </a:defRPr>
            </a:defPPr>
            <a:lvl1pPr algn="ctr">
              <a:defRPr sz="1350" b="1">
                <a:solidFill>
                  <a:srgbClr val="B54848"/>
                </a:solidFill>
              </a:defRPr>
            </a:lvl1pPr>
            <a:lvl2pPr algn="ctr">
              <a:defRPr sz="1350" b="1">
                <a:solidFill>
                  <a:srgbClr val="B54848"/>
                </a:solidFill>
              </a:defRPr>
            </a:lvl2pPr>
            <a:lvl3pPr algn="ctr">
              <a:defRPr sz="1350" b="1">
                <a:solidFill>
                  <a:srgbClr val="B54848"/>
                </a:solidFill>
              </a:defRPr>
            </a:lvl3pPr>
            <a:lvl4pPr algn="ctr">
              <a:defRPr sz="1350" b="1">
                <a:solidFill>
                  <a:srgbClr val="B54848"/>
                </a:solidFill>
              </a:defRPr>
            </a:lvl4pPr>
            <a:lvl5pPr algn="ctr">
              <a:defRPr sz="1350" b="1">
                <a:solidFill>
                  <a:srgbClr val="B54848"/>
                </a:solidFill>
              </a:defRPr>
            </a:lvl5pPr>
            <a:lvl6pPr algn="ctr">
              <a:defRPr sz="1350" b="1">
                <a:solidFill>
                  <a:srgbClr val="B54848"/>
                </a:solidFill>
              </a:defRPr>
            </a:lvl6pPr>
            <a:lvl7pPr algn="ctr">
              <a:defRPr sz="1350" b="1">
                <a:solidFill>
                  <a:srgbClr val="B54848"/>
                </a:solidFill>
              </a:defRPr>
            </a:lvl7pPr>
            <a:lvl8pPr algn="ctr">
              <a:defRPr sz="1350" b="1">
                <a:solidFill>
                  <a:srgbClr val="B54848"/>
                </a:solidFill>
              </a:defRPr>
            </a:lvl8pPr>
            <a:lvl9pPr algn="ctr">
              <a:defRPr sz="1350" b="1">
                <a:solidFill>
                  <a:srgbClr val="B54848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B54848"/>
                </a:solidFill>
              </a:defRPr>
            </a:pPr>
            <a:r>
              <a:rPr sz="1350" b="1">
                <a:solidFill>
                  <a:srgbClr val="B54848"/>
                </a:solidFill>
              </a:rPr>
              <a:t>FAIL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99A69-DAD0-43DE-A1AA-89CB7F06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2A3A"/>
                </a:solidFill>
              </a:defRPr>
            </a:defPPr>
            <a:lvl1pPr algn="l">
              <a:defRPr sz="1350" b="0">
                <a:solidFill>
                  <a:srgbClr val="192A3A"/>
                </a:solidFill>
              </a:defRPr>
            </a:lvl1pPr>
            <a:lvl2pPr algn="l">
              <a:defRPr sz="1350" b="0">
                <a:solidFill>
                  <a:srgbClr val="192A3A"/>
                </a:solidFill>
              </a:defRPr>
            </a:lvl2pPr>
            <a:lvl3pPr algn="l">
              <a:defRPr sz="1350" b="0">
                <a:solidFill>
                  <a:srgbClr val="192A3A"/>
                </a:solidFill>
              </a:defRPr>
            </a:lvl3pPr>
            <a:lvl4pPr algn="l">
              <a:defRPr sz="1350" b="0">
                <a:solidFill>
                  <a:srgbClr val="192A3A"/>
                </a:solidFill>
              </a:defRPr>
            </a:lvl4pPr>
            <a:lvl5pPr algn="l">
              <a:defRPr sz="1350" b="0">
                <a:solidFill>
                  <a:srgbClr val="192A3A"/>
                </a:solidFill>
              </a:defRPr>
            </a:lvl5pPr>
            <a:lvl6pPr algn="l">
              <a:defRPr sz="1350" b="0">
                <a:solidFill>
                  <a:srgbClr val="192A3A"/>
                </a:solidFill>
              </a:defRPr>
            </a:lvl6pPr>
            <a:lvl7pPr algn="l">
              <a:defRPr sz="1350" b="0">
                <a:solidFill>
                  <a:srgbClr val="192A3A"/>
                </a:solidFill>
              </a:defRPr>
            </a:lvl7pPr>
            <a:lvl8pPr algn="l">
              <a:defRPr sz="1350" b="0">
                <a:solidFill>
                  <a:srgbClr val="192A3A"/>
                </a:solidFill>
              </a:defRPr>
            </a:lvl8pPr>
            <a:lvl9pPr algn="l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measured 0.5296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627A8-23E2-4141-BC23-337403AC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324D"/>
                </a:solidFill>
              </a:defRPr>
            </a:defPPr>
            <a:lvl1pPr algn="l">
              <a:defRPr sz="1425" b="1">
                <a:solidFill>
                  <a:srgbClr val="17324D"/>
                </a:solidFill>
              </a:defRPr>
            </a:lvl1pPr>
            <a:lvl2pPr algn="l">
              <a:defRPr sz="1425" b="1">
                <a:solidFill>
                  <a:srgbClr val="17324D"/>
                </a:solidFill>
              </a:defRPr>
            </a:lvl2pPr>
            <a:lvl3pPr algn="l">
              <a:defRPr sz="1425" b="1">
                <a:solidFill>
                  <a:srgbClr val="17324D"/>
                </a:solidFill>
              </a:defRPr>
            </a:lvl3pPr>
            <a:lvl4pPr algn="l">
              <a:defRPr sz="1425" b="1">
                <a:solidFill>
                  <a:srgbClr val="17324D"/>
                </a:solidFill>
              </a:defRPr>
            </a:lvl4pPr>
            <a:lvl5pPr algn="l">
              <a:defRPr sz="1425" b="1">
                <a:solidFill>
                  <a:srgbClr val="17324D"/>
                </a:solidFill>
              </a:defRPr>
            </a:lvl5pPr>
            <a:lvl6pPr algn="l">
              <a:defRPr sz="1425" b="1">
                <a:solidFill>
                  <a:srgbClr val="17324D"/>
                </a:solidFill>
              </a:defRPr>
            </a:lvl6pPr>
            <a:lvl7pPr algn="l">
              <a:defRPr sz="1425" b="1">
                <a:solidFill>
                  <a:srgbClr val="17324D"/>
                </a:solidFill>
              </a:defRPr>
            </a:lvl7pPr>
            <a:lvl8pPr algn="l">
              <a:defRPr sz="1425" b="1">
                <a:solidFill>
                  <a:srgbClr val="17324D"/>
                </a:solidFill>
              </a:defRPr>
            </a:lvl8pPr>
            <a:lvl9pPr algn="l">
              <a:defRPr sz="1425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Fresh rerun hashes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8718C-74EB-4542-A08E-746972B1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53000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DEFE5"/>
          </a:solidFill>
          <a:ln xmlns:a="http://schemas.openxmlformats.org/drawingml/2006/main" w="9525">
            <a:solidFill>
              <a:srgbClr val="DDEF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2B822-93AC-42BE-940B-0A081DFE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91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2F805D"/>
                </a:solidFill>
              </a:defRPr>
            </a:defPPr>
            <a:lvl1pPr algn="ctr">
              <a:defRPr sz="1350" b="1">
                <a:solidFill>
                  <a:srgbClr val="2F805D"/>
                </a:solidFill>
              </a:defRPr>
            </a:lvl1pPr>
            <a:lvl2pPr algn="ctr">
              <a:defRPr sz="1350" b="1">
                <a:solidFill>
                  <a:srgbClr val="2F805D"/>
                </a:solidFill>
              </a:defRPr>
            </a:lvl2pPr>
            <a:lvl3pPr algn="ctr">
              <a:defRPr sz="1350" b="1">
                <a:solidFill>
                  <a:srgbClr val="2F805D"/>
                </a:solidFill>
              </a:defRPr>
            </a:lvl3pPr>
            <a:lvl4pPr algn="ctr">
              <a:defRPr sz="1350" b="1">
                <a:solidFill>
                  <a:srgbClr val="2F805D"/>
                </a:solidFill>
              </a:defRPr>
            </a:lvl4pPr>
            <a:lvl5pPr algn="ctr">
              <a:defRPr sz="1350" b="1">
                <a:solidFill>
                  <a:srgbClr val="2F805D"/>
                </a:solidFill>
              </a:defRPr>
            </a:lvl5pPr>
            <a:lvl6pPr algn="ctr">
              <a:defRPr sz="1350" b="1">
                <a:solidFill>
                  <a:srgbClr val="2F805D"/>
                </a:solidFill>
              </a:defRPr>
            </a:lvl6pPr>
            <a:lvl7pPr algn="ctr">
              <a:defRPr sz="1350" b="1">
                <a:solidFill>
                  <a:srgbClr val="2F805D"/>
                </a:solidFill>
              </a:defRPr>
            </a:lvl7pPr>
            <a:lvl8pPr algn="ctr">
              <a:defRPr sz="1350" b="1">
                <a:solidFill>
                  <a:srgbClr val="2F805D"/>
                </a:solidFill>
              </a:defRPr>
            </a:lvl8pPr>
            <a:lvl9pPr algn="ctr">
              <a:defRPr sz="1350" b="1">
                <a:solidFill>
                  <a:srgbClr val="2F805D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F805D"/>
                </a:solidFill>
              </a:defRPr>
            </a:pPr>
            <a:r>
              <a:rPr sz="1350" b="1">
                <a:solidFill>
                  <a:srgbClr val="2F805D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FC10C-B769-459B-8B79-7B7B9F8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530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92A3A"/>
                </a:solidFill>
              </a:defRPr>
            </a:defPPr>
            <a:lvl1pPr algn="l">
              <a:defRPr sz="1350" b="0">
                <a:solidFill>
                  <a:srgbClr val="192A3A"/>
                </a:solidFill>
              </a:defRPr>
            </a:lvl1pPr>
            <a:lvl2pPr algn="l">
              <a:defRPr sz="1350" b="0">
                <a:solidFill>
                  <a:srgbClr val="192A3A"/>
                </a:solidFill>
              </a:defRPr>
            </a:lvl2pPr>
            <a:lvl3pPr algn="l">
              <a:defRPr sz="1350" b="0">
                <a:solidFill>
                  <a:srgbClr val="192A3A"/>
                </a:solidFill>
              </a:defRPr>
            </a:lvl3pPr>
            <a:lvl4pPr algn="l">
              <a:defRPr sz="1350" b="0">
                <a:solidFill>
                  <a:srgbClr val="192A3A"/>
                </a:solidFill>
              </a:defRPr>
            </a:lvl4pPr>
            <a:lvl5pPr algn="l">
              <a:defRPr sz="1350" b="0">
                <a:solidFill>
                  <a:srgbClr val="192A3A"/>
                </a:solidFill>
              </a:defRPr>
            </a:lvl5pPr>
            <a:lvl6pPr algn="l">
              <a:defRPr sz="1350" b="0">
                <a:solidFill>
                  <a:srgbClr val="192A3A"/>
                </a:solidFill>
              </a:defRPr>
            </a:lvl6pPr>
            <a:lvl7pPr algn="l">
              <a:defRPr sz="1350" b="0">
                <a:solidFill>
                  <a:srgbClr val="192A3A"/>
                </a:solidFill>
              </a:defRPr>
            </a:lvl7pPr>
            <a:lvl8pPr algn="l">
              <a:defRPr sz="1350" b="0">
                <a:solidFill>
                  <a:srgbClr val="192A3A"/>
                </a:solidFill>
              </a:defRPr>
            </a:lvl8pPr>
            <a:lvl9pPr algn="l">
              <a:defRPr sz="1350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92A3A"/>
                </a:solidFill>
              </a:defRPr>
            </a:pPr>
            <a:r>
              <a:rPr sz="1350" b="0">
                <a:solidFill>
                  <a:srgbClr val="192A3A"/>
                </a:solidFill>
              </a:rPr>
              <a:t>reproducibility check</a:t>
            </a:r>
          </a:p>
        </p:txBody>
      </p:sp>
    </p:spTree>
    <p:extLst>
      <p:ext uri="{BB962C8B-B14F-4D97-AF65-F5344CB8AC3E}">
        <p14:creationId xmlns:p14="http://schemas.microsoft.com/office/powerpoint/2010/main" val="2095543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A736A-1474-458E-B6BC-67D0575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324D"/>
                </a:solidFill>
              </a:defRPr>
            </a:defPPr>
            <a:lvl1pPr algn="l">
              <a:defRPr sz="2850" b="1">
                <a:solidFill>
                  <a:srgbClr val="17324D"/>
                </a:solidFill>
              </a:defRPr>
            </a:lvl1pPr>
            <a:lvl2pPr algn="l">
              <a:defRPr sz="2850" b="1">
                <a:solidFill>
                  <a:srgbClr val="17324D"/>
                </a:solidFill>
              </a:defRPr>
            </a:lvl2pPr>
            <a:lvl3pPr algn="l">
              <a:defRPr sz="2850" b="1">
                <a:solidFill>
                  <a:srgbClr val="17324D"/>
                </a:solidFill>
              </a:defRPr>
            </a:lvl3pPr>
            <a:lvl4pPr algn="l">
              <a:defRPr sz="2850" b="1">
                <a:solidFill>
                  <a:srgbClr val="17324D"/>
                </a:solidFill>
              </a:defRPr>
            </a:lvl4pPr>
            <a:lvl5pPr algn="l">
              <a:defRPr sz="2850" b="1">
                <a:solidFill>
                  <a:srgbClr val="17324D"/>
                </a:solidFill>
              </a:defRPr>
            </a:lvl5pPr>
            <a:lvl6pPr algn="l">
              <a:defRPr sz="2850" b="1">
                <a:solidFill>
                  <a:srgbClr val="17324D"/>
                </a:solidFill>
              </a:defRPr>
            </a:lvl6pPr>
            <a:lvl7pPr algn="l">
              <a:defRPr sz="2850" b="1">
                <a:solidFill>
                  <a:srgbClr val="17324D"/>
                </a:solidFill>
              </a:defRPr>
            </a:lvl7pPr>
            <a:lvl8pPr algn="l">
              <a:defRPr sz="2850" b="1">
                <a:solidFill>
                  <a:srgbClr val="17324D"/>
                </a:solidFill>
              </a:defRPr>
            </a:lvl8pPr>
            <a:lvl9pPr algn="l">
              <a:defRPr sz="2850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Limitations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52364-A33B-4C66-94FF-93707B4F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953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579"/>
                </a:solidFill>
              </a:defRPr>
            </a:defPPr>
            <a:lvl1pPr algn="l">
              <a:defRPr sz="1350" b="0">
                <a:solidFill>
                  <a:srgbClr val="526579"/>
                </a:solidFill>
              </a:defRPr>
            </a:lvl1pPr>
            <a:lvl2pPr algn="l">
              <a:defRPr sz="1350" b="0">
                <a:solidFill>
                  <a:srgbClr val="526579"/>
                </a:solidFill>
              </a:defRPr>
            </a:lvl2pPr>
            <a:lvl3pPr algn="l">
              <a:defRPr sz="1350" b="0">
                <a:solidFill>
                  <a:srgbClr val="526579"/>
                </a:solidFill>
              </a:defRPr>
            </a:lvl3pPr>
            <a:lvl4pPr algn="l">
              <a:defRPr sz="1350" b="0">
                <a:solidFill>
                  <a:srgbClr val="526579"/>
                </a:solidFill>
              </a:defRPr>
            </a:lvl4pPr>
            <a:lvl5pPr algn="l">
              <a:defRPr sz="1350" b="0">
                <a:solidFill>
                  <a:srgbClr val="526579"/>
                </a:solidFill>
              </a:defRPr>
            </a:lvl5pPr>
            <a:lvl6pPr algn="l">
              <a:defRPr sz="1350" b="0">
                <a:solidFill>
                  <a:srgbClr val="526579"/>
                </a:solidFill>
              </a:defRPr>
            </a:lvl6pPr>
            <a:lvl7pPr algn="l">
              <a:defRPr sz="1350" b="0">
                <a:solidFill>
                  <a:srgbClr val="526579"/>
                </a:solidFill>
              </a:defRPr>
            </a:lvl7pPr>
            <a:lvl8pPr algn="l">
              <a:defRPr sz="1350" b="0">
                <a:solidFill>
                  <a:srgbClr val="526579"/>
                </a:solidFill>
              </a:defRPr>
            </a:lvl8pPr>
            <a:lvl9pPr algn="l">
              <a:defRPr sz="135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9"/>
                </a:solidFill>
              </a:defRPr>
            </a:pPr>
            <a:r>
              <a:rPr sz="1350" b="0">
                <a:solidFill>
                  <a:srgbClr val="526579"/>
                </a:solidFill>
              </a:rPr>
              <a:t>This is evidence about the simulator, not proof about real networks.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48226-5EE1-46F0-BB5E-2CD3B002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526579"/>
                </a:solidFill>
              </a:defRPr>
            </a:defPPr>
            <a:lvl1pPr algn="l">
              <a:defRPr sz="900" b="0">
                <a:solidFill>
                  <a:srgbClr val="526579"/>
                </a:solidFill>
              </a:defRPr>
            </a:lvl1pPr>
            <a:lvl2pPr algn="l">
              <a:defRPr sz="900" b="0">
                <a:solidFill>
                  <a:srgbClr val="526579"/>
                </a:solidFill>
              </a:defRPr>
            </a:lvl2pPr>
            <a:lvl3pPr algn="l">
              <a:defRPr sz="900" b="0">
                <a:solidFill>
                  <a:srgbClr val="526579"/>
                </a:solidFill>
              </a:defRPr>
            </a:lvl3pPr>
            <a:lvl4pPr algn="l">
              <a:defRPr sz="900" b="0">
                <a:solidFill>
                  <a:srgbClr val="526579"/>
                </a:solidFill>
              </a:defRPr>
            </a:lvl4pPr>
            <a:lvl5pPr algn="l">
              <a:defRPr sz="900" b="0">
                <a:solidFill>
                  <a:srgbClr val="526579"/>
                </a:solidFill>
              </a:defRPr>
            </a:lvl5pPr>
            <a:lvl6pPr algn="l">
              <a:defRPr sz="900" b="0">
                <a:solidFill>
                  <a:srgbClr val="526579"/>
                </a:solidFill>
              </a:defRPr>
            </a:lvl6pPr>
            <a:lvl7pPr algn="l">
              <a:defRPr sz="900" b="0">
                <a:solidFill>
                  <a:srgbClr val="526579"/>
                </a:solidFill>
              </a:defRPr>
            </a:lvl7pPr>
            <a:lvl8pPr algn="l">
              <a:defRPr sz="900" b="0">
                <a:solidFill>
                  <a:srgbClr val="526579"/>
                </a:solidFill>
              </a:defRPr>
            </a:lvl8pPr>
            <a:lvl9pPr algn="l">
              <a:defRPr sz="900" b="0">
                <a:solidFill>
                  <a:srgbClr val="526579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526579"/>
                </a:solidFill>
              </a:defRPr>
            </a:pPr>
            <a:r>
              <a:rPr sz="900" b="0">
                <a:solidFill>
                  <a:srgbClr val="526579"/>
                </a:solidFill>
              </a:rPr>
              <a:t>PRESTO-R  •  Faculty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C083C-03A3-4C88-B654-46961609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5AC28-AAAF-4A47-AC2A-12C629F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381125"/>
            <a:ext cx="1007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Fluid model: no individual packet timing or full protocol behavior.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D436C-7EB0-4E7A-8803-6EF2FA5D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5D294-4245-40E6-8313-06133CF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24075"/>
            <a:ext cx="1007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One managed flow; synthetic failures and designed precursor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9A3CC-C4B6-451E-BCFA-705A9162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89D66-E249-478F-A6FA-45D7F0BB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67025"/>
            <a:ext cx="1007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Predictor trained on simulator telemetry may face distribution shift.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1424F-CCED-42C4-994F-F3753C03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463EE-4011-48BE-B411-208B494F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9975"/>
            <a:ext cx="1007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No-prediction + switch-penalty ablation was not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496E3-5B51-4B56-B9B8-B4FE1655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67D8D"/>
                </a:solidFill>
              </a:defRPr>
            </a:defPPr>
            <a:lvl1pPr algn="l">
              <a:defRPr sz="1800" b="1">
                <a:solidFill>
                  <a:srgbClr val="167D8D"/>
                </a:solidFill>
              </a:defRPr>
            </a:lvl1pPr>
            <a:lvl2pPr algn="l">
              <a:defRPr sz="1800" b="1">
                <a:solidFill>
                  <a:srgbClr val="167D8D"/>
                </a:solidFill>
              </a:defRPr>
            </a:lvl2pPr>
            <a:lvl3pPr algn="l">
              <a:defRPr sz="1800" b="1">
                <a:solidFill>
                  <a:srgbClr val="167D8D"/>
                </a:solidFill>
              </a:defRPr>
            </a:lvl3pPr>
            <a:lvl4pPr algn="l">
              <a:defRPr sz="1800" b="1">
                <a:solidFill>
                  <a:srgbClr val="167D8D"/>
                </a:solidFill>
              </a:defRPr>
            </a:lvl4pPr>
            <a:lvl5pPr algn="l">
              <a:defRPr sz="1800" b="1">
                <a:solidFill>
                  <a:srgbClr val="167D8D"/>
                </a:solidFill>
              </a:defRPr>
            </a:lvl5pPr>
            <a:lvl6pPr algn="l">
              <a:defRPr sz="1800" b="1">
                <a:solidFill>
                  <a:srgbClr val="167D8D"/>
                </a:solidFill>
              </a:defRPr>
            </a:lvl6pPr>
            <a:lvl7pPr algn="l">
              <a:defRPr sz="1800" b="1">
                <a:solidFill>
                  <a:srgbClr val="167D8D"/>
                </a:solidFill>
              </a:defRPr>
            </a:lvl7pPr>
            <a:lvl8pPr algn="l">
              <a:defRPr sz="1800" b="1">
                <a:solidFill>
                  <a:srgbClr val="167D8D"/>
                </a:solidFill>
              </a:defRPr>
            </a:lvl8pPr>
            <a:lvl9pPr algn="l">
              <a:defRPr sz="18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7D8D"/>
                </a:solidFill>
              </a:defRPr>
            </a:pPr>
            <a:r>
              <a:rPr sz="1800" b="1">
                <a:solidFill>
                  <a:srgbClr val="167D8D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D7A11-9AFD-48E6-89A0-78ADF98B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10077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92A3A"/>
                </a:solidFill>
              </a:defRPr>
            </a:defPPr>
            <a:lvl1pPr algn="l">
              <a:defRPr sz="1575" b="0">
                <a:solidFill>
                  <a:srgbClr val="192A3A"/>
                </a:solidFill>
              </a:defRPr>
            </a:lvl1pPr>
            <a:lvl2pPr algn="l">
              <a:defRPr sz="1575" b="0">
                <a:solidFill>
                  <a:srgbClr val="192A3A"/>
                </a:solidFill>
              </a:defRPr>
            </a:lvl2pPr>
            <a:lvl3pPr algn="l">
              <a:defRPr sz="1575" b="0">
                <a:solidFill>
                  <a:srgbClr val="192A3A"/>
                </a:solidFill>
              </a:defRPr>
            </a:lvl3pPr>
            <a:lvl4pPr algn="l">
              <a:defRPr sz="1575" b="0">
                <a:solidFill>
                  <a:srgbClr val="192A3A"/>
                </a:solidFill>
              </a:defRPr>
            </a:lvl4pPr>
            <a:lvl5pPr algn="l">
              <a:defRPr sz="1575" b="0">
                <a:solidFill>
                  <a:srgbClr val="192A3A"/>
                </a:solidFill>
              </a:defRPr>
            </a:lvl5pPr>
            <a:lvl6pPr algn="l">
              <a:defRPr sz="1575" b="0">
                <a:solidFill>
                  <a:srgbClr val="192A3A"/>
                </a:solidFill>
              </a:defRPr>
            </a:lvl6pPr>
            <a:lvl7pPr algn="l">
              <a:defRPr sz="1575" b="0">
                <a:solidFill>
                  <a:srgbClr val="192A3A"/>
                </a:solidFill>
              </a:defRPr>
            </a:lvl7pPr>
            <a:lvl8pPr algn="l">
              <a:defRPr sz="1575" b="0">
                <a:solidFill>
                  <a:srgbClr val="192A3A"/>
                </a:solidFill>
              </a:defRPr>
            </a:lvl8pPr>
            <a:lvl9pPr algn="l">
              <a:defRPr sz="1575" b="0">
                <a:solidFill>
                  <a:srgbClr val="192A3A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92A3A"/>
                </a:solidFill>
              </a:defRPr>
            </a:pPr>
            <a:r>
              <a:rPr sz="1575" b="0">
                <a:solidFill>
                  <a:srgbClr val="192A3A"/>
                </a:solidFill>
              </a:rPr>
              <a:t>NS-3 packet validation and real traffic traces remain future work.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657B0-31C0-4778-9AE8-ED8093AE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382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0F4"/>
          </a:solidFill>
          <a:ln xmlns:a="http://schemas.openxmlformats.org/drawingml/2006/main" w="9525">
            <a:solidFill>
              <a:srgbClr val="C8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D0543-A695-4406-8054-0398372B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959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167D8D"/>
                </a:solidFill>
              </a:defRPr>
            </a:defPPr>
            <a:lvl1pPr algn="ctr">
              <a:defRPr sz="1500" b="1">
                <a:solidFill>
                  <a:srgbClr val="167D8D"/>
                </a:solidFill>
              </a:defRPr>
            </a:lvl1pPr>
            <a:lvl2pPr algn="ctr">
              <a:defRPr sz="1500" b="1">
                <a:solidFill>
                  <a:srgbClr val="167D8D"/>
                </a:solidFill>
              </a:defRPr>
            </a:lvl2pPr>
            <a:lvl3pPr algn="ctr">
              <a:defRPr sz="1500" b="1">
                <a:solidFill>
                  <a:srgbClr val="167D8D"/>
                </a:solidFill>
              </a:defRPr>
            </a:lvl3pPr>
            <a:lvl4pPr algn="ctr">
              <a:defRPr sz="1500" b="1">
                <a:solidFill>
                  <a:srgbClr val="167D8D"/>
                </a:solidFill>
              </a:defRPr>
            </a:lvl4pPr>
            <a:lvl5pPr algn="ctr">
              <a:defRPr sz="1500" b="1">
                <a:solidFill>
                  <a:srgbClr val="167D8D"/>
                </a:solidFill>
              </a:defRPr>
            </a:lvl5pPr>
            <a:lvl6pPr algn="ctr">
              <a:defRPr sz="1500" b="1">
                <a:solidFill>
                  <a:srgbClr val="167D8D"/>
                </a:solidFill>
              </a:defRPr>
            </a:lvl6pPr>
            <a:lvl7pPr algn="ctr">
              <a:defRPr sz="1500" b="1">
                <a:solidFill>
                  <a:srgbClr val="167D8D"/>
                </a:solidFill>
              </a:defRPr>
            </a:lvl7pPr>
            <a:lvl8pPr algn="ctr">
              <a:defRPr sz="1500" b="1">
                <a:solidFill>
                  <a:srgbClr val="167D8D"/>
                </a:solidFill>
              </a:defRPr>
            </a:lvl8pPr>
            <a:lvl9pPr algn="ctr">
              <a:defRPr sz="1500" b="1">
                <a:solidFill>
                  <a:srgbClr val="167D8D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67D8D"/>
                </a:solidFill>
              </a:defRPr>
            </a:pPr>
            <a:r>
              <a:rPr sz="1500" b="1">
                <a:solidFill>
                  <a:srgbClr val="167D8D"/>
                </a:solidFill>
              </a:rPr>
              <a:t>Takeaway: clear stability benefit, with important prediction and recovery limits.</a:t>
            </a:r>
          </a:p>
        </p:txBody>
      </p:sp>
    </p:spTree>
    <p:extLst>
      <p:ext uri="{BB962C8B-B14F-4D97-AF65-F5344CB8AC3E}">
        <p14:creationId xmlns:p14="http://schemas.microsoft.com/office/powerpoint/2010/main" val="9758737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2026-10-22T18:23:00.9130000Z</dcterms:created>
  <dcterms:modified xsi:type="dcterms:W3CDTF">2026-10-22T18:23:00.9130000Z</dcterms:modified>
</coreProperties>
</file>